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71" r:id="rId8"/>
    <p:sldId id="262" r:id="rId9"/>
    <p:sldId id="263" r:id="rId10"/>
    <p:sldId id="264"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28090"/>
    <a:srgbClr val="0A25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28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660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8A638-6C86-5A85-1235-417EC02A7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212AD-9EE8-95D2-6961-EFD9D266B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375B60-3327-2FC3-4871-6DCE983D7E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2F54C-3043-E047-093B-C39DFD12387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63731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txBody>
          <a:bodyPr/>
          <a:lstStyle/>
          <a:p>
            <a:endParaRPr lang="en-IN"/>
          </a:p>
        </p:txBody>
      </p:sp>
      <p:sp>
        <p:nvSpPr>
          <p:cNvPr id="3" name="Shape 1"/>
          <p:cNvSpPr/>
          <p:nvPr/>
        </p:nvSpPr>
        <p:spPr>
          <a:xfrm>
            <a:off x="6035040" y="457200"/>
            <a:ext cx="2560320" cy="2560320"/>
          </a:xfrm>
          <a:prstGeom prst="ellipse">
            <a:avLst/>
          </a:prstGeom>
          <a:solidFill>
            <a:srgbClr val="028090">
              <a:alpha val="20000"/>
            </a:srgbClr>
          </a:solidFill>
          <a:ln/>
        </p:spPr>
        <p:txBody>
          <a:bodyPr/>
          <a:lstStyle/>
          <a:p>
            <a:endParaRPr lang="en-IN"/>
          </a:p>
        </p:txBody>
      </p:sp>
      <p:sp>
        <p:nvSpPr>
          <p:cNvPr id="5" name="Text 2"/>
          <p:cNvSpPr/>
          <p:nvPr/>
        </p:nvSpPr>
        <p:spPr>
          <a:xfrm>
            <a:off x="502920" y="914400"/>
            <a:ext cx="5303520" cy="77724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Hospital Management</a:t>
            </a:r>
            <a:endParaRPr lang="en-US" sz="3800" dirty="0"/>
          </a:p>
        </p:txBody>
      </p:sp>
      <p:sp>
        <p:nvSpPr>
          <p:cNvPr id="6" name="Text 3"/>
          <p:cNvSpPr/>
          <p:nvPr/>
        </p:nvSpPr>
        <p:spPr>
          <a:xfrm>
            <a:off x="502920" y="1645920"/>
            <a:ext cx="5303520" cy="685800"/>
          </a:xfrm>
          <a:prstGeom prst="rect">
            <a:avLst/>
          </a:prstGeom>
          <a:noFill/>
          <a:ln/>
        </p:spPr>
        <p:txBody>
          <a:bodyPr wrap="square" rtlCol="0" anchor="ctr"/>
          <a:lstStyle/>
          <a:p>
            <a:pPr marL="0" indent="0">
              <a:buNone/>
            </a:pPr>
            <a:r>
              <a:rPr lang="en-US" sz="3800" b="1" dirty="0">
                <a:solidFill>
                  <a:srgbClr val="02C39A"/>
                </a:solidFill>
                <a:latin typeface="Calibri" pitchFamily="34" charset="0"/>
                <a:ea typeface="Calibri" pitchFamily="34" charset="-122"/>
                <a:cs typeface="Calibri" pitchFamily="34" charset="-120"/>
              </a:rPr>
              <a:t>System</a:t>
            </a:r>
            <a:endParaRPr lang="en-US" sz="3800" dirty="0"/>
          </a:p>
        </p:txBody>
      </p:sp>
      <p:sp>
        <p:nvSpPr>
          <p:cNvPr id="7" name="Text 4"/>
          <p:cNvSpPr/>
          <p:nvPr/>
        </p:nvSpPr>
        <p:spPr>
          <a:xfrm>
            <a:off x="502920" y="2468880"/>
            <a:ext cx="5486400" cy="411480"/>
          </a:xfrm>
          <a:prstGeom prst="rect">
            <a:avLst/>
          </a:prstGeom>
          <a:noFill/>
          <a:ln/>
        </p:spPr>
        <p:txBody>
          <a:bodyPr wrap="square" rtlCol="0" anchor="ctr"/>
          <a:lstStyle/>
          <a:p>
            <a:pPr marL="0" indent="0">
              <a:buNone/>
            </a:pPr>
            <a:r>
              <a:rPr lang="en-US" sz="1400" i="1" dirty="0">
                <a:solidFill>
                  <a:srgbClr val="B0D0E0"/>
                </a:solidFill>
                <a:latin typeface="Calibri" pitchFamily="34" charset="0"/>
                <a:ea typeface="Calibri" pitchFamily="34" charset="-122"/>
                <a:cs typeface="Calibri" pitchFamily="34" charset="-120"/>
              </a:rPr>
              <a:t>A RESTful Web API built with ASP.NET Core 8 &amp; SQL Server</a:t>
            </a:r>
            <a:endParaRPr lang="en-US" sz="1400" dirty="0"/>
          </a:p>
        </p:txBody>
      </p:sp>
      <p:sp>
        <p:nvSpPr>
          <p:cNvPr id="8" name="Shape 5"/>
          <p:cNvSpPr/>
          <p:nvPr/>
        </p:nvSpPr>
        <p:spPr>
          <a:xfrm>
            <a:off x="502920" y="3063240"/>
            <a:ext cx="1554480" cy="347472"/>
          </a:xfrm>
          <a:prstGeom prst="roundRect">
            <a:avLst>
              <a:gd name="adj" fmla="val 21053"/>
            </a:avLst>
          </a:prstGeom>
          <a:solidFill>
            <a:srgbClr val="028090"/>
          </a:solidFill>
          <a:ln/>
        </p:spPr>
        <p:txBody>
          <a:bodyPr/>
          <a:lstStyle/>
          <a:p>
            <a:endParaRPr lang="en-IN"/>
          </a:p>
        </p:txBody>
      </p:sp>
      <p:sp>
        <p:nvSpPr>
          <p:cNvPr id="9" name="Text 6"/>
          <p:cNvSpPr/>
          <p:nvPr/>
        </p:nvSpPr>
        <p:spPr>
          <a:xfrm>
            <a:off x="502920" y="3063240"/>
            <a:ext cx="15544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ASP.NET Core 8</a:t>
            </a:r>
            <a:endParaRPr lang="en-US" sz="1000" dirty="0"/>
          </a:p>
        </p:txBody>
      </p:sp>
      <p:sp>
        <p:nvSpPr>
          <p:cNvPr id="10" name="Shape 7"/>
          <p:cNvSpPr/>
          <p:nvPr/>
        </p:nvSpPr>
        <p:spPr>
          <a:xfrm>
            <a:off x="2148840" y="3063240"/>
            <a:ext cx="1554480" cy="347472"/>
          </a:xfrm>
          <a:prstGeom prst="roundRect">
            <a:avLst>
              <a:gd name="adj" fmla="val 21053"/>
            </a:avLst>
          </a:prstGeom>
          <a:solidFill>
            <a:srgbClr val="028090"/>
          </a:solidFill>
          <a:ln/>
        </p:spPr>
        <p:txBody>
          <a:bodyPr/>
          <a:lstStyle/>
          <a:p>
            <a:endParaRPr lang="en-IN"/>
          </a:p>
        </p:txBody>
      </p:sp>
      <p:sp>
        <p:nvSpPr>
          <p:cNvPr id="11" name="Text 8"/>
          <p:cNvSpPr/>
          <p:nvPr/>
        </p:nvSpPr>
        <p:spPr>
          <a:xfrm>
            <a:off x="2240280" y="3063240"/>
            <a:ext cx="15544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SQL Server</a:t>
            </a:r>
            <a:endParaRPr lang="en-US" sz="1000" dirty="0"/>
          </a:p>
        </p:txBody>
      </p:sp>
      <p:sp>
        <p:nvSpPr>
          <p:cNvPr id="12" name="Shape 9"/>
          <p:cNvSpPr/>
          <p:nvPr/>
        </p:nvSpPr>
        <p:spPr>
          <a:xfrm>
            <a:off x="3794760" y="3063240"/>
            <a:ext cx="1554480" cy="347472"/>
          </a:xfrm>
          <a:prstGeom prst="roundRect">
            <a:avLst>
              <a:gd name="adj" fmla="val 21053"/>
            </a:avLst>
          </a:prstGeom>
          <a:solidFill>
            <a:srgbClr val="028090"/>
          </a:solidFill>
          <a:ln/>
        </p:spPr>
        <p:txBody>
          <a:bodyPr/>
          <a:lstStyle/>
          <a:p>
            <a:endParaRPr lang="en-IN"/>
          </a:p>
        </p:txBody>
      </p:sp>
      <p:sp>
        <p:nvSpPr>
          <p:cNvPr id="13" name="Text 10"/>
          <p:cNvSpPr/>
          <p:nvPr/>
        </p:nvSpPr>
        <p:spPr>
          <a:xfrm>
            <a:off x="3703320" y="3063240"/>
            <a:ext cx="15544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REST API</a:t>
            </a:r>
            <a:endParaRPr lang="en-US" sz="1000" dirty="0"/>
          </a:p>
        </p:txBody>
      </p:sp>
      <p:sp>
        <p:nvSpPr>
          <p:cNvPr id="14" name="Shape 11"/>
          <p:cNvSpPr/>
          <p:nvPr/>
        </p:nvSpPr>
        <p:spPr>
          <a:xfrm>
            <a:off x="0" y="4709160"/>
            <a:ext cx="9144000" cy="434340"/>
          </a:xfrm>
          <a:prstGeom prst="rect">
            <a:avLst/>
          </a:prstGeom>
          <a:solidFill>
            <a:srgbClr val="028090"/>
          </a:solidFill>
          <a:ln/>
        </p:spPr>
        <p:txBody>
          <a:bodyPr/>
          <a:lstStyle/>
          <a:p>
            <a:endParaRPr lang="en-IN"/>
          </a:p>
        </p:txBody>
      </p:sp>
      <p:sp>
        <p:nvSpPr>
          <p:cNvPr id="15" name="Text 12"/>
          <p:cNvSpPr/>
          <p:nvPr/>
        </p:nvSpPr>
        <p:spPr>
          <a:xfrm>
            <a:off x="365760" y="4709160"/>
            <a:ext cx="8412480" cy="43434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Mini Project  •  Full-Stack Backend  •  .NET 8</a:t>
            </a:r>
            <a:endParaRPr lang="en-US" sz="1100" dirty="0"/>
          </a:p>
        </p:txBody>
      </p:sp>
      <p:grpSp>
        <p:nvGrpSpPr>
          <p:cNvPr id="23" name="Group 22">
            <a:extLst>
              <a:ext uri="{FF2B5EF4-FFF2-40B4-BE49-F238E27FC236}">
                <a16:creationId xmlns:a16="http://schemas.microsoft.com/office/drawing/2014/main" id="{BC4949AC-AF79-7373-245E-FF808086DDFF}"/>
              </a:ext>
            </a:extLst>
          </p:cNvPr>
          <p:cNvGrpSpPr/>
          <p:nvPr/>
        </p:nvGrpSpPr>
        <p:grpSpPr>
          <a:xfrm>
            <a:off x="6597529" y="1032655"/>
            <a:ext cx="1435341" cy="1409409"/>
            <a:chOff x="5781434" y="2565691"/>
            <a:chExt cx="1238292" cy="1301561"/>
          </a:xfrm>
          <a:blipFill dpi="0" rotWithShape="1">
            <a:blip r:embed="rId3">
              <a:extLst>
                <a:ext uri="{28A0092B-C50C-407E-A947-70E740481C1C}">
                  <a14:useLocalDpi xmlns:a14="http://schemas.microsoft.com/office/drawing/2010/main" val="0"/>
                </a:ext>
              </a:extLst>
            </a:blip>
            <a:srcRect/>
            <a:stretch>
              <a:fillRect/>
            </a:stretch>
          </a:blipFill>
        </p:grpSpPr>
        <p:sp>
          <p:nvSpPr>
            <p:cNvPr id="4" name="Half Frame 3">
              <a:extLst>
                <a:ext uri="{FF2B5EF4-FFF2-40B4-BE49-F238E27FC236}">
                  <a16:creationId xmlns:a16="http://schemas.microsoft.com/office/drawing/2014/main" id="{B798C129-8A06-1FFA-723B-3A509F373E2D}"/>
                </a:ext>
              </a:extLst>
            </p:cNvPr>
            <p:cNvSpPr/>
            <p:nvPr/>
          </p:nvSpPr>
          <p:spPr>
            <a:xfrm>
              <a:off x="6407726" y="3194052"/>
              <a:ext cx="612000" cy="6732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0" name="Half Frame 19">
              <a:extLst>
                <a:ext uri="{FF2B5EF4-FFF2-40B4-BE49-F238E27FC236}">
                  <a16:creationId xmlns:a16="http://schemas.microsoft.com/office/drawing/2014/main" id="{2E4B0EEA-BFE2-13FC-4345-32CAFFC573A1}"/>
                </a:ext>
              </a:extLst>
            </p:cNvPr>
            <p:cNvSpPr/>
            <p:nvPr/>
          </p:nvSpPr>
          <p:spPr>
            <a:xfrm rot="10800000">
              <a:off x="5781434" y="2566670"/>
              <a:ext cx="612000" cy="6120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1" name="Half Frame 20">
              <a:extLst>
                <a:ext uri="{FF2B5EF4-FFF2-40B4-BE49-F238E27FC236}">
                  <a16:creationId xmlns:a16="http://schemas.microsoft.com/office/drawing/2014/main" id="{94DCE0D8-4285-A348-AF94-4B4195E447F7}"/>
                </a:ext>
              </a:extLst>
            </p:cNvPr>
            <p:cNvSpPr/>
            <p:nvPr/>
          </p:nvSpPr>
          <p:spPr>
            <a:xfrm rot="16200000">
              <a:off x="6407726" y="2565691"/>
              <a:ext cx="612000" cy="6120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2" name="Half Frame 21">
              <a:extLst>
                <a:ext uri="{FF2B5EF4-FFF2-40B4-BE49-F238E27FC236}">
                  <a16:creationId xmlns:a16="http://schemas.microsoft.com/office/drawing/2014/main" id="{6CB27597-665B-2C45-D022-232956DE35FF}"/>
                </a:ext>
              </a:extLst>
            </p:cNvPr>
            <p:cNvSpPr/>
            <p:nvPr/>
          </p:nvSpPr>
          <p:spPr>
            <a:xfrm rot="10800000" flipV="1">
              <a:off x="5781434" y="3194052"/>
              <a:ext cx="612000" cy="6732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Project Overview</a:t>
            </a:r>
            <a:endParaRPr lang="en-US" sz="2800" dirty="0"/>
          </a:p>
        </p:txBody>
      </p:sp>
      <p:sp>
        <p:nvSpPr>
          <p:cNvPr id="3" name="Shape 1"/>
          <p:cNvSpPr/>
          <p:nvPr/>
        </p:nvSpPr>
        <p:spPr>
          <a:xfrm>
            <a:off x="457200" y="960120"/>
            <a:ext cx="8229600" cy="9144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Shape 2"/>
          <p:cNvSpPr/>
          <p:nvPr/>
        </p:nvSpPr>
        <p:spPr>
          <a:xfrm>
            <a:off x="457200" y="960120"/>
            <a:ext cx="91440" cy="914400"/>
          </a:xfrm>
          <a:prstGeom prst="rect">
            <a:avLst/>
          </a:prstGeom>
          <a:solidFill>
            <a:srgbClr val="028090"/>
          </a:solidFill>
          <a:ln/>
        </p:spPr>
        <p:txBody>
          <a:bodyPr/>
          <a:lstStyle/>
          <a:p>
            <a:endParaRPr lang="en-IN"/>
          </a:p>
        </p:txBody>
      </p:sp>
      <p:sp>
        <p:nvSpPr>
          <p:cNvPr id="5" name="Text 3"/>
          <p:cNvSpPr/>
          <p:nvPr/>
        </p:nvSpPr>
        <p:spPr>
          <a:xfrm>
            <a:off x="658368" y="1005840"/>
            <a:ext cx="7863840" cy="822960"/>
          </a:xfrm>
          <a:prstGeom prst="rect">
            <a:avLst/>
          </a:prstGeom>
          <a:noFill/>
          <a:ln/>
        </p:spPr>
        <p:txBody>
          <a:bodyPr wrap="square" rtlCol="0" anchor="ctr"/>
          <a:lstStyle/>
          <a:p>
            <a:pPr marL="0" indent="0">
              <a:buNone/>
            </a:pPr>
            <a:r>
              <a:rPr lang="en-US" sz="1300" dirty="0">
                <a:solidFill>
                  <a:srgbClr val="1E3A5F"/>
                </a:solidFill>
                <a:latin typeface="Calibri" pitchFamily="34" charset="0"/>
                <a:ea typeface="Calibri" pitchFamily="34" charset="-122"/>
                <a:cs typeface="Calibri" pitchFamily="34" charset="-120"/>
              </a:rPr>
              <a:t>The Hospital Management System is a backend RESTful API that digitises core hospital operations — managing patients, doctors, and appointments with full CRUD support. Built on ASP.NET Core 8, it uses SQL Server stored procedures for all data access and exposes clean endpoints consumed by any client or frontend.</a:t>
            </a:r>
            <a:endParaRPr lang="en-US" sz="1300" dirty="0"/>
          </a:p>
        </p:txBody>
      </p:sp>
      <p:sp>
        <p:nvSpPr>
          <p:cNvPr id="6" name="Shape 4"/>
          <p:cNvSpPr/>
          <p:nvPr/>
        </p:nvSpPr>
        <p:spPr>
          <a:xfrm>
            <a:off x="457200" y="2148840"/>
            <a:ext cx="1920240" cy="2286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dirty="0"/>
          </a:p>
        </p:txBody>
      </p:sp>
      <p:pic>
        <p:nvPicPr>
          <p:cNvPr id="8" name="Image 0" descr="preencoded.png"/>
          <p:cNvPicPr>
            <a:picLocks noChangeAspect="1"/>
          </p:cNvPicPr>
          <p:nvPr/>
        </p:nvPicPr>
        <p:blipFill>
          <a:blip r:embed="rId3"/>
          <a:stretch>
            <a:fillRect/>
          </a:stretch>
        </p:blipFill>
        <p:spPr>
          <a:xfrm>
            <a:off x="1170432" y="2214580"/>
            <a:ext cx="384048" cy="384048"/>
          </a:xfrm>
          <a:prstGeom prst="rect">
            <a:avLst/>
          </a:prstGeom>
        </p:spPr>
      </p:pic>
      <p:sp>
        <p:nvSpPr>
          <p:cNvPr id="9" name="Text 6"/>
          <p:cNvSpPr/>
          <p:nvPr/>
        </p:nvSpPr>
        <p:spPr>
          <a:xfrm>
            <a:off x="548640" y="2788920"/>
            <a:ext cx="1737360" cy="384048"/>
          </a:xfrm>
          <a:prstGeom prst="rect">
            <a:avLst/>
          </a:prstGeom>
          <a:noFill/>
          <a:ln/>
        </p:spPr>
        <p:txBody>
          <a:bodyPr wrap="square" rtlCol="0" anchor="ctr"/>
          <a:lstStyle/>
          <a:p>
            <a:pPr marL="0" indent="0" algn="ctr">
              <a:buNone/>
            </a:pPr>
            <a:r>
              <a:rPr lang="en-US" sz="1400" b="1" dirty="0">
                <a:solidFill>
                  <a:srgbClr val="0A2540"/>
                </a:solidFill>
                <a:latin typeface="Calibri" pitchFamily="34" charset="0"/>
                <a:ea typeface="Calibri" pitchFamily="34" charset="-122"/>
                <a:cs typeface="Calibri" pitchFamily="34" charset="-120"/>
              </a:rPr>
              <a:t>Doctor Management</a:t>
            </a:r>
            <a:endParaRPr lang="en-US" sz="1400" dirty="0"/>
          </a:p>
        </p:txBody>
      </p:sp>
      <p:sp>
        <p:nvSpPr>
          <p:cNvPr id="10" name="Text 7"/>
          <p:cNvSpPr/>
          <p:nvPr/>
        </p:nvSpPr>
        <p:spPr>
          <a:xfrm>
            <a:off x="548640" y="3182112"/>
            <a:ext cx="1737360" cy="59436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Multiple specializations</a:t>
            </a:r>
            <a:endParaRPr lang="en-US" sz="1100" dirty="0"/>
          </a:p>
        </p:txBody>
      </p:sp>
      <p:sp>
        <p:nvSpPr>
          <p:cNvPr id="11" name="Shape 8"/>
          <p:cNvSpPr/>
          <p:nvPr/>
        </p:nvSpPr>
        <p:spPr>
          <a:xfrm>
            <a:off x="2560320" y="2148840"/>
            <a:ext cx="1920240" cy="2286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3" name="Image 1" descr="preencoded.png"/>
          <p:cNvPicPr>
            <a:picLocks noChangeAspect="1"/>
          </p:cNvPicPr>
          <p:nvPr/>
        </p:nvPicPr>
        <p:blipFill>
          <a:blip r:embed="rId4"/>
          <a:stretch>
            <a:fillRect/>
          </a:stretch>
        </p:blipFill>
        <p:spPr>
          <a:xfrm>
            <a:off x="3273552" y="2212848"/>
            <a:ext cx="384048" cy="384048"/>
          </a:xfrm>
          <a:prstGeom prst="rect">
            <a:avLst/>
          </a:prstGeom>
        </p:spPr>
      </p:pic>
      <p:sp>
        <p:nvSpPr>
          <p:cNvPr id="14" name="Text 10"/>
          <p:cNvSpPr/>
          <p:nvPr/>
        </p:nvSpPr>
        <p:spPr>
          <a:xfrm>
            <a:off x="2651760" y="2788920"/>
            <a:ext cx="1737360" cy="384048"/>
          </a:xfrm>
          <a:prstGeom prst="rect">
            <a:avLst/>
          </a:prstGeom>
          <a:noFill/>
          <a:ln/>
        </p:spPr>
        <p:txBody>
          <a:bodyPr wrap="square" rtlCol="0" anchor="ctr"/>
          <a:lstStyle/>
          <a:p>
            <a:pPr marL="0" indent="0" algn="ctr">
              <a:buNone/>
            </a:pPr>
            <a:r>
              <a:rPr lang="en-US" sz="1400" b="1" dirty="0">
                <a:solidFill>
                  <a:srgbClr val="0A2540"/>
                </a:solidFill>
                <a:latin typeface="Calibri" pitchFamily="34" charset="0"/>
                <a:ea typeface="Calibri" pitchFamily="34" charset="-122"/>
                <a:cs typeface="Calibri" pitchFamily="34" charset="-120"/>
              </a:rPr>
              <a:t>Patient Management</a:t>
            </a:r>
            <a:endParaRPr lang="en-US" sz="1400" dirty="0"/>
          </a:p>
        </p:txBody>
      </p:sp>
      <p:sp>
        <p:nvSpPr>
          <p:cNvPr id="15" name="Text 11"/>
          <p:cNvSpPr/>
          <p:nvPr/>
        </p:nvSpPr>
        <p:spPr>
          <a:xfrm>
            <a:off x="2651760" y="3182112"/>
            <a:ext cx="1737360" cy="59436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Full profile &amp; lifecycle</a:t>
            </a:r>
            <a:endParaRPr lang="en-US" sz="1100" dirty="0"/>
          </a:p>
        </p:txBody>
      </p:sp>
      <p:sp>
        <p:nvSpPr>
          <p:cNvPr id="16" name="Shape 12"/>
          <p:cNvSpPr/>
          <p:nvPr/>
        </p:nvSpPr>
        <p:spPr>
          <a:xfrm>
            <a:off x="4663440" y="2148840"/>
            <a:ext cx="1920240" cy="2286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8" name="Image 2" descr="preencoded.png"/>
          <p:cNvPicPr>
            <a:picLocks noChangeAspect="1"/>
          </p:cNvPicPr>
          <p:nvPr/>
        </p:nvPicPr>
        <p:blipFill>
          <a:blip r:embed="rId5"/>
          <a:stretch>
            <a:fillRect/>
          </a:stretch>
        </p:blipFill>
        <p:spPr>
          <a:xfrm>
            <a:off x="5376672" y="2212848"/>
            <a:ext cx="384048" cy="384048"/>
          </a:xfrm>
          <a:prstGeom prst="rect">
            <a:avLst/>
          </a:prstGeom>
        </p:spPr>
      </p:pic>
      <p:sp>
        <p:nvSpPr>
          <p:cNvPr id="19" name="Text 14"/>
          <p:cNvSpPr/>
          <p:nvPr/>
        </p:nvSpPr>
        <p:spPr>
          <a:xfrm>
            <a:off x="4754880" y="2788920"/>
            <a:ext cx="1737360" cy="384048"/>
          </a:xfrm>
          <a:prstGeom prst="rect">
            <a:avLst/>
          </a:prstGeom>
          <a:noFill/>
          <a:ln/>
        </p:spPr>
        <p:txBody>
          <a:bodyPr wrap="square" rtlCol="0" anchor="ctr"/>
          <a:lstStyle/>
          <a:p>
            <a:pPr marL="0" indent="0" algn="ctr">
              <a:buNone/>
            </a:pPr>
            <a:r>
              <a:rPr lang="en-US" sz="1400" b="1" dirty="0">
                <a:solidFill>
                  <a:srgbClr val="0A2540"/>
                </a:solidFill>
                <a:latin typeface="Calibri" pitchFamily="34" charset="0"/>
                <a:ea typeface="Calibri" pitchFamily="34" charset="-122"/>
                <a:cs typeface="Calibri" pitchFamily="34" charset="-120"/>
              </a:rPr>
              <a:t>Appointments</a:t>
            </a:r>
            <a:endParaRPr lang="en-US" sz="1400" dirty="0"/>
          </a:p>
        </p:txBody>
      </p:sp>
      <p:sp>
        <p:nvSpPr>
          <p:cNvPr id="20" name="Text 15"/>
          <p:cNvSpPr/>
          <p:nvPr/>
        </p:nvSpPr>
        <p:spPr>
          <a:xfrm>
            <a:off x="4754880" y="3182112"/>
            <a:ext cx="1737360" cy="59436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Book, view &amp; cancel</a:t>
            </a:r>
            <a:endParaRPr lang="en-US" sz="1100" dirty="0"/>
          </a:p>
        </p:txBody>
      </p:sp>
      <p:sp>
        <p:nvSpPr>
          <p:cNvPr id="21" name="Shape 16"/>
          <p:cNvSpPr/>
          <p:nvPr/>
        </p:nvSpPr>
        <p:spPr>
          <a:xfrm>
            <a:off x="6766560" y="2148840"/>
            <a:ext cx="1920240" cy="2286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3" name="Image 3" descr="preencoded.png"/>
          <p:cNvPicPr>
            <a:picLocks noChangeAspect="1"/>
          </p:cNvPicPr>
          <p:nvPr/>
        </p:nvPicPr>
        <p:blipFill>
          <a:blip r:embed="rId6"/>
          <a:stretch>
            <a:fillRect/>
          </a:stretch>
        </p:blipFill>
        <p:spPr>
          <a:xfrm>
            <a:off x="7479792" y="2212848"/>
            <a:ext cx="384048" cy="384048"/>
          </a:xfrm>
          <a:prstGeom prst="rect">
            <a:avLst/>
          </a:prstGeom>
        </p:spPr>
      </p:pic>
      <p:sp>
        <p:nvSpPr>
          <p:cNvPr id="24" name="Text 18"/>
          <p:cNvSpPr/>
          <p:nvPr/>
        </p:nvSpPr>
        <p:spPr>
          <a:xfrm>
            <a:off x="6858000" y="2788920"/>
            <a:ext cx="1737360" cy="384048"/>
          </a:xfrm>
          <a:prstGeom prst="rect">
            <a:avLst/>
          </a:prstGeom>
          <a:noFill/>
          <a:ln/>
        </p:spPr>
        <p:txBody>
          <a:bodyPr wrap="square" rtlCol="0" anchor="ctr"/>
          <a:lstStyle/>
          <a:p>
            <a:pPr marL="0" indent="0" algn="ctr">
              <a:buNone/>
            </a:pPr>
            <a:r>
              <a:rPr lang="en-US" sz="1400" b="1" dirty="0">
                <a:solidFill>
                  <a:srgbClr val="0A2540"/>
                </a:solidFill>
                <a:latin typeface="Calibri" pitchFamily="34" charset="0"/>
                <a:ea typeface="Calibri" pitchFamily="34" charset="-122"/>
                <a:cs typeface="Calibri" pitchFamily="34" charset="-120"/>
              </a:rPr>
              <a:t>Analytics &amp; Reports</a:t>
            </a:r>
            <a:endParaRPr lang="en-US" sz="1400" dirty="0"/>
          </a:p>
        </p:txBody>
      </p:sp>
      <p:sp>
        <p:nvSpPr>
          <p:cNvPr id="25" name="Text 19"/>
          <p:cNvSpPr/>
          <p:nvPr/>
        </p:nvSpPr>
        <p:spPr>
          <a:xfrm>
            <a:off x="6858000" y="3182112"/>
            <a:ext cx="1737360" cy="59436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Revenue &amp; workload APIs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Technology Stack</a:t>
            </a:r>
            <a:endParaRPr lang="en-US" sz="2800" dirty="0"/>
          </a:p>
        </p:txBody>
      </p:sp>
      <p:sp>
        <p:nvSpPr>
          <p:cNvPr id="3" name="Shape 1"/>
          <p:cNvSpPr/>
          <p:nvPr/>
        </p:nvSpPr>
        <p:spPr>
          <a:xfrm>
            <a:off x="457200" y="96012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dirty="0">
              <a:solidFill>
                <a:schemeClr val="tx2">
                  <a:lumMod val="75000"/>
                </a:schemeClr>
              </a:solidFill>
            </a:endParaRPr>
          </a:p>
        </p:txBody>
      </p:sp>
      <p:sp>
        <p:nvSpPr>
          <p:cNvPr id="6" name="Text 3"/>
          <p:cNvSpPr/>
          <p:nvPr/>
        </p:nvSpPr>
        <p:spPr>
          <a:xfrm>
            <a:off x="1234440" y="106984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ASP.NET Core 8</a:t>
            </a:r>
            <a:endParaRPr lang="en-US" sz="1200" dirty="0"/>
          </a:p>
        </p:txBody>
      </p:sp>
      <p:sp>
        <p:nvSpPr>
          <p:cNvPr id="7" name="Text 4"/>
          <p:cNvSpPr/>
          <p:nvPr/>
        </p:nvSpPr>
        <p:spPr>
          <a:xfrm>
            <a:off x="548640" y="155448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Web API framework, routing, DI container, middleware pipeline</a:t>
            </a:r>
            <a:endParaRPr lang="en-US" sz="1050" dirty="0"/>
          </a:p>
        </p:txBody>
      </p:sp>
      <p:sp>
        <p:nvSpPr>
          <p:cNvPr id="8" name="Shape 5"/>
          <p:cNvSpPr/>
          <p:nvPr/>
        </p:nvSpPr>
        <p:spPr>
          <a:xfrm>
            <a:off x="3291840" y="96012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0" name="Image 1" descr="preencoded.png"/>
          <p:cNvPicPr>
            <a:picLocks noChangeAspect="1"/>
          </p:cNvPicPr>
          <p:nvPr/>
        </p:nvPicPr>
        <p:blipFill>
          <a:blip r:embed="rId3"/>
          <a:stretch>
            <a:fillRect/>
          </a:stretch>
        </p:blipFill>
        <p:spPr>
          <a:xfrm>
            <a:off x="3497580" y="1101159"/>
            <a:ext cx="457200" cy="457200"/>
          </a:xfrm>
          <a:prstGeom prst="rect">
            <a:avLst/>
          </a:prstGeom>
        </p:spPr>
      </p:pic>
      <p:sp>
        <p:nvSpPr>
          <p:cNvPr id="11" name="Text 7"/>
          <p:cNvSpPr/>
          <p:nvPr/>
        </p:nvSpPr>
        <p:spPr>
          <a:xfrm>
            <a:off x="4069080" y="106984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SQL Server</a:t>
            </a:r>
            <a:endParaRPr lang="en-US" sz="1200" dirty="0"/>
          </a:p>
        </p:txBody>
      </p:sp>
      <p:sp>
        <p:nvSpPr>
          <p:cNvPr id="12" name="Text 8"/>
          <p:cNvSpPr/>
          <p:nvPr/>
        </p:nvSpPr>
        <p:spPr>
          <a:xfrm>
            <a:off x="3383280" y="155448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Relational database with stored procedures, transactions, constraints</a:t>
            </a:r>
            <a:endParaRPr lang="en-US" sz="1050" dirty="0"/>
          </a:p>
        </p:txBody>
      </p:sp>
      <p:sp>
        <p:nvSpPr>
          <p:cNvPr id="13" name="Shape 9"/>
          <p:cNvSpPr/>
          <p:nvPr/>
        </p:nvSpPr>
        <p:spPr>
          <a:xfrm>
            <a:off x="6126480" y="96012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5" name="Image 2" descr="preencoded.png"/>
          <p:cNvPicPr>
            <a:picLocks noChangeAspect="1"/>
          </p:cNvPicPr>
          <p:nvPr/>
        </p:nvPicPr>
        <p:blipFill>
          <a:blip r:embed="rId4"/>
          <a:stretch>
            <a:fillRect/>
          </a:stretch>
        </p:blipFill>
        <p:spPr>
          <a:xfrm>
            <a:off x="6332220" y="1091461"/>
            <a:ext cx="457200" cy="457200"/>
          </a:xfrm>
          <a:prstGeom prst="rect">
            <a:avLst/>
          </a:prstGeom>
        </p:spPr>
      </p:pic>
      <p:sp>
        <p:nvSpPr>
          <p:cNvPr id="16" name="Text 11"/>
          <p:cNvSpPr/>
          <p:nvPr/>
        </p:nvSpPr>
        <p:spPr>
          <a:xfrm>
            <a:off x="6903720" y="106984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C# 12</a:t>
            </a:r>
            <a:endParaRPr lang="en-US" sz="1200" dirty="0"/>
          </a:p>
        </p:txBody>
      </p:sp>
      <p:sp>
        <p:nvSpPr>
          <p:cNvPr id="17" name="Text 12"/>
          <p:cNvSpPr/>
          <p:nvPr/>
        </p:nvSpPr>
        <p:spPr>
          <a:xfrm>
            <a:off x="6217920" y="155448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Models, DTOs, services, repositories — all strongly typed</a:t>
            </a:r>
            <a:endParaRPr lang="en-US" sz="1050" dirty="0"/>
          </a:p>
        </p:txBody>
      </p:sp>
      <p:sp>
        <p:nvSpPr>
          <p:cNvPr id="18" name="Shape 13"/>
          <p:cNvSpPr/>
          <p:nvPr/>
        </p:nvSpPr>
        <p:spPr>
          <a:xfrm>
            <a:off x="457200" y="265176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0" name="Image 3" descr="preencoded.png"/>
          <p:cNvPicPr>
            <a:picLocks noChangeAspect="1"/>
          </p:cNvPicPr>
          <p:nvPr/>
        </p:nvPicPr>
        <p:blipFill>
          <a:blip r:embed="rId5"/>
          <a:stretch>
            <a:fillRect/>
          </a:stretch>
        </p:blipFill>
        <p:spPr>
          <a:xfrm>
            <a:off x="688571" y="2761488"/>
            <a:ext cx="457200" cy="457200"/>
          </a:xfrm>
          <a:prstGeom prst="rect">
            <a:avLst/>
          </a:prstGeom>
        </p:spPr>
      </p:pic>
      <p:sp>
        <p:nvSpPr>
          <p:cNvPr id="21" name="Text 15"/>
          <p:cNvSpPr/>
          <p:nvPr/>
        </p:nvSpPr>
        <p:spPr>
          <a:xfrm>
            <a:off x="1234440" y="276148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Swagger / OpenAPI</a:t>
            </a:r>
            <a:endParaRPr lang="en-US" sz="1200" dirty="0"/>
          </a:p>
        </p:txBody>
      </p:sp>
      <p:sp>
        <p:nvSpPr>
          <p:cNvPr id="22" name="Text 16"/>
          <p:cNvSpPr/>
          <p:nvPr/>
        </p:nvSpPr>
        <p:spPr>
          <a:xfrm>
            <a:off x="548640" y="324612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Auto-generated API documentation and interactive testing UI</a:t>
            </a:r>
            <a:endParaRPr lang="en-US" sz="1050" dirty="0"/>
          </a:p>
        </p:txBody>
      </p:sp>
      <p:sp>
        <p:nvSpPr>
          <p:cNvPr id="23" name="Shape 17"/>
          <p:cNvSpPr/>
          <p:nvPr/>
        </p:nvSpPr>
        <p:spPr>
          <a:xfrm>
            <a:off x="3291840" y="265176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5" name="Image 4" descr="preencoded.png"/>
          <p:cNvPicPr>
            <a:picLocks noChangeAspect="1"/>
          </p:cNvPicPr>
          <p:nvPr/>
        </p:nvPicPr>
        <p:blipFill>
          <a:blip r:embed="rId6"/>
          <a:stretch>
            <a:fillRect/>
          </a:stretch>
        </p:blipFill>
        <p:spPr>
          <a:xfrm>
            <a:off x="3473334" y="2816352"/>
            <a:ext cx="457200" cy="457200"/>
          </a:xfrm>
          <a:prstGeom prst="rect">
            <a:avLst/>
          </a:prstGeom>
        </p:spPr>
      </p:pic>
      <p:sp>
        <p:nvSpPr>
          <p:cNvPr id="26" name="Text 19"/>
          <p:cNvSpPr/>
          <p:nvPr/>
        </p:nvSpPr>
        <p:spPr>
          <a:xfrm>
            <a:off x="4069080" y="276148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Repository Pattern</a:t>
            </a:r>
            <a:endParaRPr lang="en-US" sz="1200" dirty="0"/>
          </a:p>
        </p:txBody>
      </p:sp>
      <p:sp>
        <p:nvSpPr>
          <p:cNvPr id="27" name="Text 20"/>
          <p:cNvSpPr/>
          <p:nvPr/>
        </p:nvSpPr>
        <p:spPr>
          <a:xfrm>
            <a:off x="3383280" y="324612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Abstraction layer isolating data access from business logic</a:t>
            </a:r>
            <a:endParaRPr lang="en-US" sz="1050" dirty="0"/>
          </a:p>
        </p:txBody>
      </p:sp>
      <p:sp>
        <p:nvSpPr>
          <p:cNvPr id="28" name="Shape 21"/>
          <p:cNvSpPr/>
          <p:nvPr/>
        </p:nvSpPr>
        <p:spPr>
          <a:xfrm>
            <a:off x="6126480" y="2651760"/>
            <a:ext cx="2606040" cy="1508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30" name="Image 5" descr="preencoded.png"/>
          <p:cNvPicPr>
            <a:picLocks noChangeAspect="1"/>
          </p:cNvPicPr>
          <p:nvPr/>
        </p:nvPicPr>
        <p:blipFill>
          <a:blip r:embed="rId7"/>
          <a:stretch>
            <a:fillRect/>
          </a:stretch>
        </p:blipFill>
        <p:spPr>
          <a:xfrm>
            <a:off x="6309360" y="2834640"/>
            <a:ext cx="457200" cy="457200"/>
          </a:xfrm>
          <a:prstGeom prst="rect">
            <a:avLst/>
          </a:prstGeom>
        </p:spPr>
      </p:pic>
      <p:sp>
        <p:nvSpPr>
          <p:cNvPr id="31" name="Text 23"/>
          <p:cNvSpPr/>
          <p:nvPr/>
        </p:nvSpPr>
        <p:spPr>
          <a:xfrm>
            <a:off x="6903720" y="2761488"/>
            <a:ext cx="16916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Middleware</a:t>
            </a:r>
            <a:endParaRPr lang="en-US" sz="1200" dirty="0"/>
          </a:p>
        </p:txBody>
      </p:sp>
      <p:sp>
        <p:nvSpPr>
          <p:cNvPr id="32" name="Text 24"/>
          <p:cNvSpPr/>
          <p:nvPr/>
        </p:nvSpPr>
        <p:spPr>
          <a:xfrm>
            <a:off x="6217920" y="3246120"/>
            <a:ext cx="2423160" cy="7772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Custom exception handling and HTTP request logging pipeline</a:t>
            </a:r>
            <a:endParaRPr lang="en-US" sz="1050" dirty="0"/>
          </a:p>
        </p:txBody>
      </p:sp>
      <p:grpSp>
        <p:nvGrpSpPr>
          <p:cNvPr id="4" name="Group 3">
            <a:extLst>
              <a:ext uri="{FF2B5EF4-FFF2-40B4-BE49-F238E27FC236}">
                <a16:creationId xmlns:a16="http://schemas.microsoft.com/office/drawing/2014/main" id="{AD823084-6C85-CF7D-4049-20689254A814}"/>
              </a:ext>
            </a:extLst>
          </p:cNvPr>
          <p:cNvGrpSpPr/>
          <p:nvPr/>
        </p:nvGrpSpPr>
        <p:grpSpPr>
          <a:xfrm>
            <a:off x="649778" y="1057793"/>
            <a:ext cx="447502" cy="490868"/>
            <a:chOff x="649778" y="1057793"/>
            <a:chExt cx="530802" cy="656015"/>
          </a:xfrm>
        </p:grpSpPr>
        <p:sp>
          <p:nvSpPr>
            <p:cNvPr id="5" name="Hexagon 4">
              <a:extLst>
                <a:ext uri="{FF2B5EF4-FFF2-40B4-BE49-F238E27FC236}">
                  <a16:creationId xmlns:a16="http://schemas.microsoft.com/office/drawing/2014/main" id="{CC890B52-29B6-9696-23BD-070CD79398C3}"/>
                </a:ext>
              </a:extLst>
            </p:cNvPr>
            <p:cNvSpPr/>
            <p:nvPr/>
          </p:nvSpPr>
          <p:spPr>
            <a:xfrm rot="5400000">
              <a:off x="625185" y="1082386"/>
              <a:ext cx="496687" cy="447502"/>
            </a:xfrm>
            <a:prstGeom prst="hexagon">
              <a:avLst/>
            </a:prstGeom>
            <a:solidFill>
              <a:srgbClr val="0280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Hexagon 32">
              <a:extLst>
                <a:ext uri="{FF2B5EF4-FFF2-40B4-BE49-F238E27FC236}">
                  <a16:creationId xmlns:a16="http://schemas.microsoft.com/office/drawing/2014/main" id="{C32AF395-6AFC-8896-6930-D2C1B7DA1561}"/>
                </a:ext>
              </a:extLst>
            </p:cNvPr>
            <p:cNvSpPr/>
            <p:nvPr/>
          </p:nvSpPr>
          <p:spPr>
            <a:xfrm rot="5400000">
              <a:off x="663510" y="1192411"/>
              <a:ext cx="503337" cy="432783"/>
            </a:xfrm>
            <a:prstGeom prst="hexagon">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Hexagon 33">
              <a:extLst>
                <a:ext uri="{FF2B5EF4-FFF2-40B4-BE49-F238E27FC236}">
                  <a16:creationId xmlns:a16="http://schemas.microsoft.com/office/drawing/2014/main" id="{DEC0E5F9-B038-29AB-5922-FC8E83BA19B5}"/>
                </a:ext>
              </a:extLst>
            </p:cNvPr>
            <p:cNvSpPr/>
            <p:nvPr/>
          </p:nvSpPr>
          <p:spPr>
            <a:xfrm rot="5400000">
              <a:off x="708485" y="1241714"/>
              <a:ext cx="496687" cy="447502"/>
            </a:xfrm>
            <a:prstGeom prst="hexagon">
              <a:avLst/>
            </a:prstGeom>
            <a:solidFill>
              <a:srgbClr val="0280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System Architecture</a:t>
            </a:r>
            <a:endParaRPr lang="en-US" sz="2800" dirty="0"/>
          </a:p>
        </p:txBody>
      </p:sp>
      <p:sp>
        <p:nvSpPr>
          <p:cNvPr id="3" name="Shape 1"/>
          <p:cNvSpPr/>
          <p:nvPr/>
        </p:nvSpPr>
        <p:spPr>
          <a:xfrm>
            <a:off x="365760" y="1005840"/>
            <a:ext cx="1463040" cy="2926080"/>
          </a:xfrm>
          <a:prstGeom prst="rect">
            <a:avLst/>
          </a:prstGeom>
          <a:solidFill>
            <a:srgbClr val="0D3B6B"/>
          </a:solidFill>
          <a:ln/>
          <a:effectLst>
            <a:outerShdw blurRad="101600" dist="38100" dir="8100000" algn="bl" rotWithShape="0">
              <a:srgbClr val="000000">
                <a:alpha val="12000"/>
              </a:srgbClr>
            </a:outerShdw>
          </a:effectLst>
        </p:spPr>
        <p:txBody>
          <a:bodyPr/>
          <a:lstStyle/>
          <a:p>
            <a:endParaRPr lang="en-IN"/>
          </a:p>
        </p:txBody>
      </p:sp>
      <p:pic>
        <p:nvPicPr>
          <p:cNvPr id="4" name="Image 0" descr="preencoded.png"/>
          <p:cNvPicPr>
            <a:picLocks noChangeAspect="1"/>
          </p:cNvPicPr>
          <p:nvPr/>
        </p:nvPicPr>
        <p:blipFill>
          <a:blip r:embed="rId3">
            <a:lum bright="70000" contrast="-70000"/>
          </a:blip>
          <a:stretch>
            <a:fillRect/>
          </a:stretch>
        </p:blipFill>
        <p:spPr>
          <a:xfrm>
            <a:off x="868680" y="1143000"/>
            <a:ext cx="457200" cy="457200"/>
          </a:xfrm>
          <a:prstGeom prst="rect">
            <a:avLst/>
          </a:prstGeom>
        </p:spPr>
      </p:pic>
      <p:sp>
        <p:nvSpPr>
          <p:cNvPr id="5" name="Text 2"/>
          <p:cNvSpPr/>
          <p:nvPr/>
        </p:nvSpPr>
        <p:spPr>
          <a:xfrm>
            <a:off x="411480" y="1737360"/>
            <a:ext cx="1371600" cy="9144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Client / Swagger UI</a:t>
            </a:r>
            <a:endParaRPr lang="en-US" sz="1050" dirty="0"/>
          </a:p>
        </p:txBody>
      </p:sp>
      <p:sp>
        <p:nvSpPr>
          <p:cNvPr id="6" name="Shape 3"/>
          <p:cNvSpPr/>
          <p:nvPr/>
        </p:nvSpPr>
        <p:spPr>
          <a:xfrm>
            <a:off x="1828800" y="2468880"/>
            <a:ext cx="228600" cy="0"/>
          </a:xfrm>
          <a:prstGeom prst="line">
            <a:avLst/>
          </a:prstGeom>
          <a:noFill/>
          <a:ln w="31750">
            <a:solidFill>
              <a:srgbClr val="028090"/>
            </a:solidFill>
            <a:prstDash val="solid"/>
          </a:ln>
        </p:spPr>
        <p:txBody>
          <a:bodyPr/>
          <a:lstStyle/>
          <a:p>
            <a:endParaRPr lang="en-IN"/>
          </a:p>
        </p:txBody>
      </p:sp>
      <p:sp>
        <p:nvSpPr>
          <p:cNvPr id="7" name="Shape 4"/>
          <p:cNvSpPr/>
          <p:nvPr/>
        </p:nvSpPr>
        <p:spPr>
          <a:xfrm>
            <a:off x="2057400" y="1005840"/>
            <a:ext cx="1463040" cy="2926080"/>
          </a:xfrm>
          <a:prstGeom prst="rect">
            <a:avLst/>
          </a:prstGeom>
          <a:solidFill>
            <a:srgbClr val="028090"/>
          </a:solidFill>
          <a:ln/>
          <a:effectLst>
            <a:outerShdw blurRad="101600" dist="38100" dir="8100000" algn="bl" rotWithShape="0">
              <a:srgbClr val="000000">
                <a:alpha val="12000"/>
              </a:srgbClr>
            </a:outerShdw>
          </a:effectLst>
        </p:spPr>
        <p:txBody>
          <a:bodyPr/>
          <a:lstStyle/>
          <a:p>
            <a:endParaRPr lang="en-IN"/>
          </a:p>
        </p:txBody>
      </p:sp>
      <p:pic>
        <p:nvPicPr>
          <p:cNvPr id="8" name="Image 1" descr="preencoded.png"/>
          <p:cNvPicPr>
            <a:picLocks noChangeAspect="1"/>
          </p:cNvPicPr>
          <p:nvPr/>
        </p:nvPicPr>
        <p:blipFill>
          <a:blip r:embed="rId4">
            <a:lum bright="70000" contrast="-70000"/>
          </a:blip>
          <a:stretch>
            <a:fillRect/>
          </a:stretch>
        </p:blipFill>
        <p:spPr>
          <a:xfrm>
            <a:off x="2560320" y="1143000"/>
            <a:ext cx="457200" cy="457200"/>
          </a:xfrm>
          <a:prstGeom prst="rect">
            <a:avLst/>
          </a:prstGeom>
        </p:spPr>
      </p:pic>
      <p:sp>
        <p:nvSpPr>
          <p:cNvPr id="9" name="Text 5"/>
          <p:cNvSpPr/>
          <p:nvPr/>
        </p:nvSpPr>
        <p:spPr>
          <a:xfrm>
            <a:off x="2103120" y="1737360"/>
            <a:ext cx="1371600" cy="9144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Controller Layer</a:t>
            </a:r>
            <a:endParaRPr lang="en-US" sz="1050" dirty="0"/>
          </a:p>
        </p:txBody>
      </p:sp>
      <p:sp>
        <p:nvSpPr>
          <p:cNvPr id="10" name="Shape 6"/>
          <p:cNvSpPr/>
          <p:nvPr/>
        </p:nvSpPr>
        <p:spPr>
          <a:xfrm>
            <a:off x="3520440" y="2468880"/>
            <a:ext cx="228600" cy="0"/>
          </a:xfrm>
          <a:prstGeom prst="line">
            <a:avLst/>
          </a:prstGeom>
          <a:noFill/>
          <a:ln w="31750">
            <a:solidFill>
              <a:srgbClr val="028090"/>
            </a:solidFill>
            <a:prstDash val="solid"/>
          </a:ln>
        </p:spPr>
        <p:txBody>
          <a:bodyPr/>
          <a:lstStyle/>
          <a:p>
            <a:endParaRPr lang="en-IN"/>
          </a:p>
        </p:txBody>
      </p:sp>
      <p:sp>
        <p:nvSpPr>
          <p:cNvPr id="11" name="Shape 7"/>
          <p:cNvSpPr/>
          <p:nvPr/>
        </p:nvSpPr>
        <p:spPr>
          <a:xfrm>
            <a:off x="3749040" y="1005840"/>
            <a:ext cx="1463040" cy="2926080"/>
          </a:xfrm>
          <a:prstGeom prst="rect">
            <a:avLst/>
          </a:prstGeom>
          <a:solidFill>
            <a:srgbClr val="00A896"/>
          </a:solidFill>
          <a:ln/>
          <a:effectLst>
            <a:outerShdw blurRad="101600" dist="38100" dir="8100000" algn="bl" rotWithShape="0">
              <a:srgbClr val="000000">
                <a:alpha val="12000"/>
              </a:srgbClr>
            </a:outerShdw>
          </a:effectLst>
        </p:spPr>
        <p:txBody>
          <a:bodyPr/>
          <a:lstStyle/>
          <a:p>
            <a:endParaRPr lang="en-IN"/>
          </a:p>
        </p:txBody>
      </p:sp>
      <p:pic>
        <p:nvPicPr>
          <p:cNvPr id="12" name="Image 2" descr="preencoded.png"/>
          <p:cNvPicPr>
            <a:picLocks noChangeAspect="1"/>
          </p:cNvPicPr>
          <p:nvPr/>
        </p:nvPicPr>
        <p:blipFill>
          <a:blip r:embed="rId5">
            <a:lum bright="70000" contrast="-70000"/>
          </a:blip>
          <a:stretch>
            <a:fillRect/>
          </a:stretch>
        </p:blipFill>
        <p:spPr>
          <a:xfrm>
            <a:off x="4251960" y="1143000"/>
            <a:ext cx="457200" cy="457200"/>
          </a:xfrm>
          <a:prstGeom prst="rect">
            <a:avLst/>
          </a:prstGeom>
        </p:spPr>
      </p:pic>
      <p:sp>
        <p:nvSpPr>
          <p:cNvPr id="13" name="Text 8"/>
          <p:cNvSpPr/>
          <p:nvPr/>
        </p:nvSpPr>
        <p:spPr>
          <a:xfrm>
            <a:off x="3794760" y="1737360"/>
            <a:ext cx="1371600" cy="9144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Service Layer</a:t>
            </a:r>
            <a:endParaRPr lang="en-US" sz="1050" dirty="0"/>
          </a:p>
        </p:txBody>
      </p:sp>
      <p:sp>
        <p:nvSpPr>
          <p:cNvPr id="14" name="Shape 9"/>
          <p:cNvSpPr/>
          <p:nvPr/>
        </p:nvSpPr>
        <p:spPr>
          <a:xfrm>
            <a:off x="5212080" y="2468880"/>
            <a:ext cx="228600" cy="0"/>
          </a:xfrm>
          <a:prstGeom prst="line">
            <a:avLst/>
          </a:prstGeom>
          <a:noFill/>
          <a:ln w="31750">
            <a:solidFill>
              <a:srgbClr val="028090"/>
            </a:solidFill>
            <a:prstDash val="solid"/>
          </a:ln>
        </p:spPr>
        <p:txBody>
          <a:bodyPr/>
          <a:lstStyle/>
          <a:p>
            <a:endParaRPr lang="en-IN"/>
          </a:p>
        </p:txBody>
      </p:sp>
      <p:sp>
        <p:nvSpPr>
          <p:cNvPr id="15" name="Shape 10"/>
          <p:cNvSpPr/>
          <p:nvPr/>
        </p:nvSpPr>
        <p:spPr>
          <a:xfrm>
            <a:off x="5440680" y="1005840"/>
            <a:ext cx="1463040" cy="2926080"/>
          </a:xfrm>
          <a:prstGeom prst="rect">
            <a:avLst/>
          </a:prstGeom>
          <a:solidFill>
            <a:srgbClr val="02C39A"/>
          </a:solidFill>
          <a:ln/>
          <a:effectLst>
            <a:outerShdw blurRad="101600" dist="38100" dir="8100000" algn="bl" rotWithShape="0">
              <a:srgbClr val="000000">
                <a:alpha val="12000"/>
              </a:srgbClr>
            </a:outerShdw>
          </a:effectLst>
        </p:spPr>
        <p:txBody>
          <a:bodyPr/>
          <a:lstStyle/>
          <a:p>
            <a:endParaRPr lang="en-IN"/>
          </a:p>
        </p:txBody>
      </p:sp>
      <p:pic>
        <p:nvPicPr>
          <p:cNvPr id="16" name="Image 3" descr="preencoded.png"/>
          <p:cNvPicPr>
            <a:picLocks noChangeAspect="1"/>
          </p:cNvPicPr>
          <p:nvPr/>
        </p:nvPicPr>
        <p:blipFill>
          <a:blip r:embed="rId6">
            <a:lum bright="70000" contrast="-70000"/>
          </a:blip>
          <a:stretch>
            <a:fillRect/>
          </a:stretch>
        </p:blipFill>
        <p:spPr>
          <a:xfrm>
            <a:off x="5943600" y="1143000"/>
            <a:ext cx="457200" cy="457200"/>
          </a:xfrm>
          <a:prstGeom prst="rect">
            <a:avLst/>
          </a:prstGeom>
        </p:spPr>
      </p:pic>
      <p:sp>
        <p:nvSpPr>
          <p:cNvPr id="17" name="Text 11"/>
          <p:cNvSpPr/>
          <p:nvPr/>
        </p:nvSpPr>
        <p:spPr>
          <a:xfrm>
            <a:off x="5486400" y="1737360"/>
            <a:ext cx="1371600" cy="9144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Repository Layer</a:t>
            </a:r>
            <a:endParaRPr lang="en-US" sz="1050" dirty="0"/>
          </a:p>
        </p:txBody>
      </p:sp>
      <p:sp>
        <p:nvSpPr>
          <p:cNvPr id="18" name="Shape 12"/>
          <p:cNvSpPr/>
          <p:nvPr/>
        </p:nvSpPr>
        <p:spPr>
          <a:xfrm>
            <a:off x="6903720" y="2468880"/>
            <a:ext cx="228600" cy="0"/>
          </a:xfrm>
          <a:prstGeom prst="line">
            <a:avLst/>
          </a:prstGeom>
          <a:noFill/>
          <a:ln w="31750">
            <a:solidFill>
              <a:srgbClr val="028090"/>
            </a:solidFill>
            <a:prstDash val="solid"/>
          </a:ln>
        </p:spPr>
        <p:txBody>
          <a:bodyPr/>
          <a:lstStyle/>
          <a:p>
            <a:endParaRPr lang="en-IN"/>
          </a:p>
        </p:txBody>
      </p:sp>
      <p:sp>
        <p:nvSpPr>
          <p:cNvPr id="19" name="Shape 13"/>
          <p:cNvSpPr/>
          <p:nvPr/>
        </p:nvSpPr>
        <p:spPr>
          <a:xfrm>
            <a:off x="7132320" y="1005840"/>
            <a:ext cx="1463040" cy="2926080"/>
          </a:xfrm>
          <a:prstGeom prst="rect">
            <a:avLst/>
          </a:prstGeom>
          <a:solidFill>
            <a:srgbClr val="1A5276"/>
          </a:solidFill>
          <a:ln/>
          <a:effectLst>
            <a:outerShdw blurRad="101600" dist="38100" dir="8100000" algn="bl" rotWithShape="0">
              <a:srgbClr val="000000">
                <a:alpha val="12000"/>
              </a:srgbClr>
            </a:outerShdw>
          </a:effectLst>
        </p:spPr>
        <p:txBody>
          <a:bodyPr/>
          <a:lstStyle/>
          <a:p>
            <a:endParaRPr lang="en-IN"/>
          </a:p>
        </p:txBody>
      </p:sp>
      <p:pic>
        <p:nvPicPr>
          <p:cNvPr id="20" name="Image 4" descr="preencoded.png"/>
          <p:cNvPicPr>
            <a:picLocks noChangeAspect="1"/>
          </p:cNvPicPr>
          <p:nvPr/>
        </p:nvPicPr>
        <p:blipFill>
          <a:blip r:embed="rId7">
            <a:lum bright="70000" contrast="-70000"/>
          </a:blip>
          <a:stretch>
            <a:fillRect/>
          </a:stretch>
        </p:blipFill>
        <p:spPr>
          <a:xfrm>
            <a:off x="7635240" y="1143000"/>
            <a:ext cx="457200" cy="457200"/>
          </a:xfrm>
          <a:prstGeom prst="rect">
            <a:avLst/>
          </a:prstGeom>
        </p:spPr>
      </p:pic>
      <p:sp>
        <p:nvSpPr>
          <p:cNvPr id="21" name="Text 14"/>
          <p:cNvSpPr/>
          <p:nvPr/>
        </p:nvSpPr>
        <p:spPr>
          <a:xfrm>
            <a:off x="7178040" y="1737360"/>
            <a:ext cx="1371600" cy="9144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SQL Server DB</a:t>
            </a:r>
            <a:endParaRPr lang="en-US" sz="1050" dirty="0"/>
          </a:p>
        </p:txBody>
      </p:sp>
      <p:sp>
        <p:nvSpPr>
          <p:cNvPr id="22" name="Shape 15"/>
          <p:cNvSpPr/>
          <p:nvPr/>
        </p:nvSpPr>
        <p:spPr>
          <a:xfrm>
            <a:off x="457200" y="4160520"/>
            <a:ext cx="822960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3" name="Shape 16"/>
          <p:cNvSpPr/>
          <p:nvPr/>
        </p:nvSpPr>
        <p:spPr>
          <a:xfrm>
            <a:off x="457200" y="4160520"/>
            <a:ext cx="91440" cy="713232"/>
          </a:xfrm>
          <a:prstGeom prst="rect">
            <a:avLst/>
          </a:prstGeom>
          <a:solidFill>
            <a:srgbClr val="02C39A"/>
          </a:solidFill>
          <a:ln/>
        </p:spPr>
        <p:txBody>
          <a:bodyPr/>
          <a:lstStyle/>
          <a:p>
            <a:endParaRPr lang="en-IN"/>
          </a:p>
        </p:txBody>
      </p:sp>
      <p:sp>
        <p:nvSpPr>
          <p:cNvPr id="24" name="Text 17"/>
          <p:cNvSpPr/>
          <p:nvPr/>
        </p:nvSpPr>
        <p:spPr>
          <a:xfrm>
            <a:off x="658368" y="4206240"/>
            <a:ext cx="7863840" cy="621792"/>
          </a:xfrm>
          <a:prstGeom prst="rect">
            <a:avLst/>
          </a:prstGeom>
          <a:noFill/>
          <a:ln/>
        </p:spPr>
        <p:txBody>
          <a:bodyPr wrap="square" rtlCol="0" anchor="ctr"/>
          <a:lstStyle/>
          <a:p>
            <a:pPr marL="0" indent="0">
              <a:buNone/>
            </a:pPr>
            <a:r>
              <a:rPr lang="en-US" sz="1200" dirty="0">
                <a:solidFill>
                  <a:srgbClr val="1E3A5F"/>
                </a:solidFill>
                <a:latin typeface="Calibri" pitchFamily="34" charset="0"/>
                <a:ea typeface="Calibri" pitchFamily="34" charset="-122"/>
                <a:cs typeface="Calibri" pitchFamily="34" charset="-120"/>
              </a:rPr>
              <a:t>Middleware Pipeline:  RequestLoggingMiddleware  →  ExceptionMiddleware  →  Authorization  →  Controllers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Database Schema</a:t>
            </a:r>
            <a:endParaRPr lang="en-US" sz="2800" dirty="0"/>
          </a:p>
        </p:txBody>
      </p:sp>
      <p:sp>
        <p:nvSpPr>
          <p:cNvPr id="3" name="Shape 1"/>
          <p:cNvSpPr/>
          <p:nvPr/>
        </p:nvSpPr>
        <p:spPr>
          <a:xfrm>
            <a:off x="274320" y="960120"/>
            <a:ext cx="2560320" cy="35661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Shape 2"/>
          <p:cNvSpPr/>
          <p:nvPr/>
        </p:nvSpPr>
        <p:spPr>
          <a:xfrm>
            <a:off x="274320" y="960120"/>
            <a:ext cx="2560320" cy="457200"/>
          </a:xfrm>
          <a:prstGeom prst="rect">
            <a:avLst/>
          </a:prstGeom>
          <a:solidFill>
            <a:srgbClr val="028090"/>
          </a:solidFill>
          <a:ln/>
        </p:spPr>
        <p:txBody>
          <a:bodyPr/>
          <a:lstStyle/>
          <a:p>
            <a:endParaRPr lang="en-IN"/>
          </a:p>
        </p:txBody>
      </p:sp>
      <p:sp>
        <p:nvSpPr>
          <p:cNvPr id="5" name="Text 3"/>
          <p:cNvSpPr/>
          <p:nvPr/>
        </p:nvSpPr>
        <p:spPr>
          <a:xfrm>
            <a:off x="274320" y="96012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Patients</a:t>
            </a:r>
            <a:endParaRPr lang="en-US" sz="1300" dirty="0"/>
          </a:p>
        </p:txBody>
      </p:sp>
      <p:sp>
        <p:nvSpPr>
          <p:cNvPr id="6" name="Text 4"/>
          <p:cNvSpPr/>
          <p:nvPr/>
        </p:nvSpPr>
        <p:spPr>
          <a:xfrm>
            <a:off x="365760" y="1481328"/>
            <a:ext cx="2377440" cy="329184"/>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PatientCode (PK)</a:t>
            </a:r>
            <a:endParaRPr lang="en-US" sz="1000" dirty="0"/>
          </a:p>
        </p:txBody>
      </p:sp>
      <p:sp>
        <p:nvSpPr>
          <p:cNvPr id="7" name="Text 5"/>
          <p:cNvSpPr/>
          <p:nvPr/>
        </p:nvSpPr>
        <p:spPr>
          <a:xfrm>
            <a:off x="365760" y="1856232"/>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FullName</a:t>
            </a:r>
            <a:endParaRPr lang="en-US" sz="1000" dirty="0"/>
          </a:p>
        </p:txBody>
      </p:sp>
      <p:sp>
        <p:nvSpPr>
          <p:cNvPr id="8" name="Text 6"/>
          <p:cNvSpPr/>
          <p:nvPr/>
        </p:nvSpPr>
        <p:spPr>
          <a:xfrm>
            <a:off x="365760" y="2231136"/>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DOB</a:t>
            </a:r>
            <a:endParaRPr lang="en-US" sz="1000" dirty="0"/>
          </a:p>
        </p:txBody>
      </p:sp>
      <p:sp>
        <p:nvSpPr>
          <p:cNvPr id="9" name="Text 7"/>
          <p:cNvSpPr/>
          <p:nvPr/>
        </p:nvSpPr>
        <p:spPr>
          <a:xfrm>
            <a:off x="365760" y="2606040"/>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Gender</a:t>
            </a:r>
            <a:endParaRPr lang="en-US" sz="1000" dirty="0"/>
          </a:p>
        </p:txBody>
      </p:sp>
      <p:sp>
        <p:nvSpPr>
          <p:cNvPr id="10" name="Text 8"/>
          <p:cNvSpPr/>
          <p:nvPr/>
        </p:nvSpPr>
        <p:spPr>
          <a:xfrm>
            <a:off x="365760" y="2980944"/>
            <a:ext cx="2377440" cy="329184"/>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Phone (UQ)</a:t>
            </a:r>
            <a:endParaRPr lang="en-US" sz="1000" dirty="0"/>
          </a:p>
        </p:txBody>
      </p:sp>
      <p:sp>
        <p:nvSpPr>
          <p:cNvPr id="11" name="Text 9"/>
          <p:cNvSpPr/>
          <p:nvPr/>
        </p:nvSpPr>
        <p:spPr>
          <a:xfrm>
            <a:off x="365760" y="3355848"/>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Email</a:t>
            </a:r>
            <a:endParaRPr lang="en-US" sz="1000" dirty="0"/>
          </a:p>
        </p:txBody>
      </p:sp>
      <p:sp>
        <p:nvSpPr>
          <p:cNvPr id="12" name="Text 10"/>
          <p:cNvSpPr/>
          <p:nvPr/>
        </p:nvSpPr>
        <p:spPr>
          <a:xfrm>
            <a:off x="365760" y="3730752"/>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IsActive</a:t>
            </a:r>
            <a:endParaRPr lang="en-US" sz="1000" dirty="0"/>
          </a:p>
        </p:txBody>
      </p:sp>
      <p:sp>
        <p:nvSpPr>
          <p:cNvPr id="13" name="Text 11"/>
          <p:cNvSpPr/>
          <p:nvPr/>
        </p:nvSpPr>
        <p:spPr>
          <a:xfrm>
            <a:off x="365760" y="4105656"/>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CreatedAt / UpdatedAt</a:t>
            </a:r>
            <a:endParaRPr lang="en-US" sz="1000" dirty="0"/>
          </a:p>
        </p:txBody>
      </p:sp>
      <p:sp>
        <p:nvSpPr>
          <p:cNvPr id="14" name="Shape 12"/>
          <p:cNvSpPr/>
          <p:nvPr/>
        </p:nvSpPr>
        <p:spPr>
          <a:xfrm>
            <a:off x="3291840" y="960120"/>
            <a:ext cx="2560320" cy="35661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5" name="Shape 13"/>
          <p:cNvSpPr/>
          <p:nvPr/>
        </p:nvSpPr>
        <p:spPr>
          <a:xfrm>
            <a:off x="3291840" y="960120"/>
            <a:ext cx="2560320" cy="457200"/>
          </a:xfrm>
          <a:prstGeom prst="rect">
            <a:avLst/>
          </a:prstGeom>
          <a:solidFill>
            <a:srgbClr val="00A896"/>
          </a:solidFill>
          <a:ln/>
        </p:spPr>
        <p:txBody>
          <a:bodyPr/>
          <a:lstStyle/>
          <a:p>
            <a:endParaRPr lang="en-IN"/>
          </a:p>
        </p:txBody>
      </p:sp>
      <p:sp>
        <p:nvSpPr>
          <p:cNvPr id="16" name="Text 14"/>
          <p:cNvSpPr/>
          <p:nvPr/>
        </p:nvSpPr>
        <p:spPr>
          <a:xfrm>
            <a:off x="3291840" y="96012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Doctors</a:t>
            </a:r>
            <a:endParaRPr lang="en-US" sz="1300" dirty="0"/>
          </a:p>
        </p:txBody>
      </p:sp>
      <p:sp>
        <p:nvSpPr>
          <p:cNvPr id="17" name="Text 15"/>
          <p:cNvSpPr/>
          <p:nvPr/>
        </p:nvSpPr>
        <p:spPr>
          <a:xfrm>
            <a:off x="3383280" y="1481328"/>
            <a:ext cx="2377440" cy="329184"/>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DoctorCode (PK)</a:t>
            </a:r>
            <a:endParaRPr lang="en-US" sz="1000" dirty="0"/>
          </a:p>
        </p:txBody>
      </p:sp>
      <p:sp>
        <p:nvSpPr>
          <p:cNvPr id="18" name="Text 16"/>
          <p:cNvSpPr/>
          <p:nvPr/>
        </p:nvSpPr>
        <p:spPr>
          <a:xfrm>
            <a:off x="3383280" y="1856232"/>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FullName</a:t>
            </a:r>
            <a:endParaRPr lang="en-US" sz="1000" dirty="0"/>
          </a:p>
        </p:txBody>
      </p:sp>
      <p:sp>
        <p:nvSpPr>
          <p:cNvPr id="19" name="Text 17"/>
          <p:cNvSpPr/>
          <p:nvPr/>
        </p:nvSpPr>
        <p:spPr>
          <a:xfrm>
            <a:off x="3383280" y="2231136"/>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Specialization</a:t>
            </a:r>
            <a:endParaRPr lang="en-US" sz="1000" dirty="0"/>
          </a:p>
        </p:txBody>
      </p:sp>
      <p:sp>
        <p:nvSpPr>
          <p:cNvPr id="20" name="Text 18"/>
          <p:cNvSpPr/>
          <p:nvPr/>
        </p:nvSpPr>
        <p:spPr>
          <a:xfrm>
            <a:off x="3383280" y="2606040"/>
            <a:ext cx="2377440" cy="329184"/>
          </a:xfrm>
          <a:prstGeom prst="rect">
            <a:avLst/>
          </a:prstGeom>
          <a:noFill/>
          <a:ln/>
        </p:spPr>
        <p:txBody>
          <a:bodyPr wrap="square" rtlCol="0" anchor="ctr"/>
          <a:lstStyle/>
          <a:p>
            <a:pPr marL="0" indent="0">
              <a:buNone/>
            </a:pPr>
            <a:r>
              <a:rPr lang="en-US" sz="1000" b="1" dirty="0">
                <a:solidFill>
                  <a:srgbClr val="00A896"/>
                </a:solidFill>
                <a:latin typeface="Calibri" pitchFamily="34" charset="0"/>
                <a:ea typeface="Calibri" pitchFamily="34" charset="-122"/>
                <a:cs typeface="Calibri" pitchFamily="34" charset="-120"/>
              </a:rPr>
              <a:t>Phone (UQ)</a:t>
            </a:r>
            <a:endParaRPr lang="en-US" sz="1000" dirty="0"/>
          </a:p>
        </p:txBody>
      </p:sp>
      <p:sp>
        <p:nvSpPr>
          <p:cNvPr id="21" name="Text 19"/>
          <p:cNvSpPr/>
          <p:nvPr/>
        </p:nvSpPr>
        <p:spPr>
          <a:xfrm>
            <a:off x="3383280" y="2980944"/>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ConsultationFee</a:t>
            </a:r>
            <a:endParaRPr lang="en-US" sz="1000" dirty="0"/>
          </a:p>
        </p:txBody>
      </p:sp>
      <p:sp>
        <p:nvSpPr>
          <p:cNvPr id="22" name="Text 20"/>
          <p:cNvSpPr/>
          <p:nvPr/>
        </p:nvSpPr>
        <p:spPr>
          <a:xfrm>
            <a:off x="3383280" y="3355848"/>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IsAvailable</a:t>
            </a:r>
            <a:endParaRPr lang="en-US" sz="1000" dirty="0"/>
          </a:p>
        </p:txBody>
      </p:sp>
      <p:sp>
        <p:nvSpPr>
          <p:cNvPr id="23" name="Text 21"/>
          <p:cNvSpPr/>
          <p:nvPr/>
        </p:nvSpPr>
        <p:spPr>
          <a:xfrm>
            <a:off x="3383280" y="3730752"/>
            <a:ext cx="2377440" cy="329184"/>
          </a:xfrm>
          <a:prstGeom prst="rect">
            <a:avLst/>
          </a:prstGeom>
          <a:noFill/>
          <a:ln/>
        </p:spPr>
        <p:txBody>
          <a:bodyPr wrap="square" rtlCol="0" anchor="ctr"/>
          <a:lstStyle/>
          <a:p>
            <a:pPr marL="0" indent="0">
              <a:buNone/>
            </a:pPr>
            <a:r>
              <a:rPr lang="en-US" sz="1000" dirty="0" err="1">
                <a:solidFill>
                  <a:srgbClr val="1E3A5F"/>
                </a:solidFill>
                <a:latin typeface="Calibri" pitchFamily="34" charset="0"/>
                <a:ea typeface="Calibri" pitchFamily="34" charset="-122"/>
                <a:cs typeface="Calibri" pitchFamily="34" charset="-120"/>
              </a:rPr>
              <a:t>CreatedAt</a:t>
            </a:r>
            <a:endParaRPr lang="en-US" sz="1000" dirty="0"/>
          </a:p>
        </p:txBody>
      </p:sp>
      <p:sp>
        <p:nvSpPr>
          <p:cNvPr id="24" name="Shape 22"/>
          <p:cNvSpPr/>
          <p:nvPr/>
        </p:nvSpPr>
        <p:spPr>
          <a:xfrm>
            <a:off x="6309360" y="960120"/>
            <a:ext cx="2560320" cy="35661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5" name="Shape 23"/>
          <p:cNvSpPr/>
          <p:nvPr/>
        </p:nvSpPr>
        <p:spPr>
          <a:xfrm>
            <a:off x="6309360" y="960120"/>
            <a:ext cx="2560320" cy="457200"/>
          </a:xfrm>
          <a:prstGeom prst="rect">
            <a:avLst/>
          </a:prstGeom>
          <a:solidFill>
            <a:srgbClr val="02C39A"/>
          </a:solidFill>
          <a:ln/>
        </p:spPr>
        <p:txBody>
          <a:bodyPr/>
          <a:lstStyle/>
          <a:p>
            <a:endParaRPr lang="en-IN"/>
          </a:p>
        </p:txBody>
      </p:sp>
      <p:sp>
        <p:nvSpPr>
          <p:cNvPr id="26" name="Text 24"/>
          <p:cNvSpPr/>
          <p:nvPr/>
        </p:nvSpPr>
        <p:spPr>
          <a:xfrm>
            <a:off x="6309360" y="96012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Appointments</a:t>
            </a:r>
            <a:endParaRPr lang="en-US" sz="1300" dirty="0"/>
          </a:p>
        </p:txBody>
      </p:sp>
      <p:sp>
        <p:nvSpPr>
          <p:cNvPr id="27" name="Text 25"/>
          <p:cNvSpPr/>
          <p:nvPr/>
        </p:nvSpPr>
        <p:spPr>
          <a:xfrm>
            <a:off x="6400800" y="1481328"/>
            <a:ext cx="2377440" cy="329184"/>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AppointmentId (PK)</a:t>
            </a:r>
            <a:endParaRPr lang="en-US" sz="1000" dirty="0"/>
          </a:p>
        </p:txBody>
      </p:sp>
      <p:sp>
        <p:nvSpPr>
          <p:cNvPr id="28" name="Text 26"/>
          <p:cNvSpPr/>
          <p:nvPr/>
        </p:nvSpPr>
        <p:spPr>
          <a:xfrm>
            <a:off x="6400800" y="1856232"/>
            <a:ext cx="2377440" cy="329184"/>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PatientCode (FK)</a:t>
            </a:r>
            <a:endParaRPr lang="en-US" sz="1000" dirty="0"/>
          </a:p>
        </p:txBody>
      </p:sp>
      <p:sp>
        <p:nvSpPr>
          <p:cNvPr id="29" name="Text 27"/>
          <p:cNvSpPr/>
          <p:nvPr/>
        </p:nvSpPr>
        <p:spPr>
          <a:xfrm>
            <a:off x="6400800" y="2231136"/>
            <a:ext cx="2377440" cy="329184"/>
          </a:xfrm>
          <a:prstGeom prst="rect">
            <a:avLst/>
          </a:prstGeom>
          <a:noFill/>
          <a:ln/>
        </p:spPr>
        <p:txBody>
          <a:bodyPr wrap="square" rtlCol="0" anchor="ctr"/>
          <a:lstStyle/>
          <a:p>
            <a:pPr marL="0" indent="0">
              <a:buNone/>
            </a:pPr>
            <a:r>
              <a:rPr lang="en-US" sz="1000" b="1" dirty="0">
                <a:solidFill>
                  <a:srgbClr val="02C39A"/>
                </a:solidFill>
                <a:latin typeface="Calibri" pitchFamily="34" charset="0"/>
                <a:ea typeface="Calibri" pitchFamily="34" charset="-122"/>
                <a:cs typeface="Calibri" pitchFamily="34" charset="-120"/>
              </a:rPr>
              <a:t>DoctorCode (FK)</a:t>
            </a:r>
            <a:endParaRPr lang="en-US" sz="1000" dirty="0"/>
          </a:p>
        </p:txBody>
      </p:sp>
      <p:sp>
        <p:nvSpPr>
          <p:cNvPr id="30" name="Text 28"/>
          <p:cNvSpPr/>
          <p:nvPr/>
        </p:nvSpPr>
        <p:spPr>
          <a:xfrm>
            <a:off x="6400800" y="2606040"/>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AppointmentDate</a:t>
            </a:r>
            <a:endParaRPr lang="en-US" sz="1000" dirty="0"/>
          </a:p>
        </p:txBody>
      </p:sp>
      <p:sp>
        <p:nvSpPr>
          <p:cNvPr id="31" name="Text 29"/>
          <p:cNvSpPr/>
          <p:nvPr/>
        </p:nvSpPr>
        <p:spPr>
          <a:xfrm>
            <a:off x="6400800" y="2980944"/>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AppointmentStatus</a:t>
            </a:r>
            <a:endParaRPr lang="en-US" sz="1000" dirty="0"/>
          </a:p>
        </p:txBody>
      </p:sp>
      <p:sp>
        <p:nvSpPr>
          <p:cNvPr id="32" name="Text 30"/>
          <p:cNvSpPr/>
          <p:nvPr/>
        </p:nvSpPr>
        <p:spPr>
          <a:xfrm>
            <a:off x="6400800" y="3355848"/>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CancelledAt</a:t>
            </a:r>
            <a:endParaRPr lang="en-US" sz="1000" dirty="0"/>
          </a:p>
        </p:txBody>
      </p:sp>
      <p:sp>
        <p:nvSpPr>
          <p:cNvPr id="33" name="Text 31"/>
          <p:cNvSpPr/>
          <p:nvPr/>
        </p:nvSpPr>
        <p:spPr>
          <a:xfrm>
            <a:off x="6400800" y="3730752"/>
            <a:ext cx="2377440" cy="329184"/>
          </a:xfrm>
          <a:prstGeom prst="rect">
            <a:avLst/>
          </a:prstGeom>
          <a:noFill/>
          <a:ln/>
        </p:spPr>
        <p:txBody>
          <a:bodyPr wrap="square" rtlCol="0" anchor="ctr"/>
          <a:lstStyle/>
          <a:p>
            <a:pPr marL="0" indent="0">
              <a:buNone/>
            </a:pPr>
            <a:r>
              <a:rPr lang="en-US" sz="1000" dirty="0">
                <a:solidFill>
                  <a:srgbClr val="1E3A5F"/>
                </a:solidFill>
                <a:latin typeface="Calibri" pitchFamily="34" charset="0"/>
                <a:ea typeface="Calibri" pitchFamily="34" charset="-122"/>
                <a:cs typeface="Calibri" pitchFamily="34" charset="-120"/>
              </a:rPr>
              <a:t>CreatedAt</a:t>
            </a:r>
            <a:endParaRPr lang="en-US" sz="1000" dirty="0"/>
          </a:p>
        </p:txBody>
      </p:sp>
      <p:sp>
        <p:nvSpPr>
          <p:cNvPr id="34" name="Shape 32"/>
          <p:cNvSpPr/>
          <p:nvPr/>
        </p:nvSpPr>
        <p:spPr>
          <a:xfrm>
            <a:off x="2834640" y="2615184"/>
            <a:ext cx="457200" cy="0"/>
          </a:xfrm>
          <a:prstGeom prst="line">
            <a:avLst/>
          </a:prstGeom>
          <a:noFill/>
          <a:ln w="19050">
            <a:solidFill>
              <a:srgbClr val="64748B"/>
            </a:solidFill>
            <a:prstDash val="dash"/>
          </a:ln>
        </p:spPr>
        <p:txBody>
          <a:bodyPr/>
          <a:lstStyle/>
          <a:p>
            <a:endParaRPr lang="en-IN"/>
          </a:p>
        </p:txBody>
      </p:sp>
      <p:sp>
        <p:nvSpPr>
          <p:cNvPr id="35" name="Shape 33"/>
          <p:cNvSpPr/>
          <p:nvPr/>
        </p:nvSpPr>
        <p:spPr>
          <a:xfrm>
            <a:off x="5852160" y="2615184"/>
            <a:ext cx="457200" cy="0"/>
          </a:xfrm>
          <a:prstGeom prst="line">
            <a:avLst/>
          </a:prstGeom>
          <a:noFill/>
          <a:ln w="19050">
            <a:solidFill>
              <a:srgbClr val="64748B"/>
            </a:solidFill>
            <a:prstDash val="dash"/>
          </a:ln>
        </p:spPr>
        <p:txBody>
          <a:bodyPr/>
          <a:lstStyle/>
          <a:p>
            <a:endParaRPr lang="en-IN"/>
          </a:p>
        </p:txBody>
      </p:sp>
      <p:sp>
        <p:nvSpPr>
          <p:cNvPr id="36" name="Text 34"/>
          <p:cNvSpPr/>
          <p:nvPr/>
        </p:nvSpPr>
        <p:spPr>
          <a:xfrm>
            <a:off x="2834640" y="2468880"/>
            <a:ext cx="457200" cy="27432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FK</a:t>
            </a:r>
            <a:endParaRPr lang="en-US" sz="800" dirty="0"/>
          </a:p>
        </p:txBody>
      </p:sp>
      <p:sp>
        <p:nvSpPr>
          <p:cNvPr id="37" name="Text 35"/>
          <p:cNvSpPr/>
          <p:nvPr/>
        </p:nvSpPr>
        <p:spPr>
          <a:xfrm>
            <a:off x="5852160" y="2468880"/>
            <a:ext cx="457200" cy="274320"/>
          </a:xfrm>
          <a:prstGeom prst="rect">
            <a:avLst/>
          </a:prstGeom>
          <a:noFill/>
          <a:ln/>
        </p:spPr>
        <p:txBody>
          <a:bodyPr wrap="square"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FK</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2540"/>
          </a:solidFill>
          <a:ln/>
        </p:spPr>
        <p:txBody>
          <a:bodyPr/>
          <a:lstStyle/>
          <a:p>
            <a:endParaRPr lang="en-IN"/>
          </a:p>
        </p:txBody>
      </p:sp>
      <p:sp>
        <p:nvSpPr>
          <p:cNvPr id="4" name="Text 1"/>
          <p:cNvSpPr/>
          <p:nvPr/>
        </p:nvSpPr>
        <p:spPr>
          <a:xfrm>
            <a:off x="1005840" y="182880"/>
            <a:ext cx="7772400" cy="594360"/>
          </a:xfrm>
          <a:prstGeom prst="rect">
            <a:avLst/>
          </a:prstGeom>
          <a:noFill/>
          <a:ln/>
        </p:spPr>
        <p:txBody>
          <a:bodyPr wrap="square" rtlCol="0" anchor="ctr"/>
          <a:lstStyle/>
          <a:p>
            <a:pPr marL="0" indent="0">
              <a:buNone/>
            </a:pPr>
            <a:r>
              <a:rPr lang="en-US" sz="2600" b="1" dirty="0">
                <a:solidFill>
                  <a:schemeClr val="bg1"/>
                </a:solidFill>
              </a:rPr>
              <a:t>ER DIAGRAM</a:t>
            </a:r>
          </a:p>
        </p:txBody>
      </p:sp>
      <p:grpSp>
        <p:nvGrpSpPr>
          <p:cNvPr id="31" name="Group 30">
            <a:extLst>
              <a:ext uri="{FF2B5EF4-FFF2-40B4-BE49-F238E27FC236}">
                <a16:creationId xmlns:a16="http://schemas.microsoft.com/office/drawing/2014/main" id="{AB90115B-34ED-4D64-749C-AD48A68402CE}"/>
              </a:ext>
            </a:extLst>
          </p:cNvPr>
          <p:cNvGrpSpPr/>
          <p:nvPr/>
        </p:nvGrpSpPr>
        <p:grpSpPr>
          <a:xfrm>
            <a:off x="200891" y="270164"/>
            <a:ext cx="311727" cy="152400"/>
            <a:chOff x="200891" y="270164"/>
            <a:chExt cx="311727" cy="152400"/>
          </a:xfrm>
        </p:grpSpPr>
        <p:cxnSp>
          <p:nvCxnSpPr>
            <p:cNvPr id="28" name="Straight Connector 27">
              <a:extLst>
                <a:ext uri="{FF2B5EF4-FFF2-40B4-BE49-F238E27FC236}">
                  <a16:creationId xmlns:a16="http://schemas.microsoft.com/office/drawing/2014/main" id="{0E7128DD-33EE-1ED9-C6F7-034FEDE339EB}"/>
                </a:ext>
              </a:extLst>
            </p:cNvPr>
            <p:cNvCxnSpPr/>
            <p:nvPr/>
          </p:nvCxnSpPr>
          <p:spPr>
            <a:xfrm>
              <a:off x="200891" y="2701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6602F3A-51E0-8365-F9E1-6D962A8A5D2C}"/>
                </a:ext>
              </a:extLst>
            </p:cNvPr>
            <p:cNvCxnSpPr/>
            <p:nvPr/>
          </p:nvCxnSpPr>
          <p:spPr>
            <a:xfrm>
              <a:off x="200891" y="339437"/>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BD8A47E-36FC-2A25-F120-00FA38BB7001}"/>
                </a:ext>
              </a:extLst>
            </p:cNvPr>
            <p:cNvCxnSpPr/>
            <p:nvPr/>
          </p:nvCxnSpPr>
          <p:spPr>
            <a:xfrm>
              <a:off x="200891" y="4225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1B3AE091-6C20-FF63-05ED-F4082E7F83EA}"/>
              </a:ext>
            </a:extLst>
          </p:cNvPr>
          <p:cNvGrpSpPr/>
          <p:nvPr/>
        </p:nvGrpSpPr>
        <p:grpSpPr>
          <a:xfrm>
            <a:off x="549748" y="580644"/>
            <a:ext cx="311727" cy="152400"/>
            <a:chOff x="200891" y="270164"/>
            <a:chExt cx="311727" cy="152400"/>
          </a:xfrm>
        </p:grpSpPr>
        <p:cxnSp>
          <p:nvCxnSpPr>
            <p:cNvPr id="33" name="Straight Connector 32">
              <a:extLst>
                <a:ext uri="{FF2B5EF4-FFF2-40B4-BE49-F238E27FC236}">
                  <a16:creationId xmlns:a16="http://schemas.microsoft.com/office/drawing/2014/main" id="{DE689413-67A3-CBC6-1924-F8ABDAD6E689}"/>
                </a:ext>
              </a:extLst>
            </p:cNvPr>
            <p:cNvCxnSpPr/>
            <p:nvPr/>
          </p:nvCxnSpPr>
          <p:spPr>
            <a:xfrm>
              <a:off x="200891" y="2701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54C17C2-EE74-928E-B060-F8E581871EEE}"/>
                </a:ext>
              </a:extLst>
            </p:cNvPr>
            <p:cNvCxnSpPr/>
            <p:nvPr/>
          </p:nvCxnSpPr>
          <p:spPr>
            <a:xfrm>
              <a:off x="200891" y="339437"/>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369DED3-16F8-D868-E0E1-FBFCB5FB3ED1}"/>
                </a:ext>
              </a:extLst>
            </p:cNvPr>
            <p:cNvCxnSpPr/>
            <p:nvPr/>
          </p:nvCxnSpPr>
          <p:spPr>
            <a:xfrm>
              <a:off x="200891" y="4225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8027DFFA-A22B-F49B-6E90-3BFDD498381D}"/>
              </a:ext>
            </a:extLst>
          </p:cNvPr>
          <p:cNvGrpSpPr/>
          <p:nvPr/>
        </p:nvGrpSpPr>
        <p:grpSpPr>
          <a:xfrm>
            <a:off x="81465" y="645622"/>
            <a:ext cx="311727" cy="152400"/>
            <a:chOff x="200891" y="270164"/>
            <a:chExt cx="311727" cy="152400"/>
          </a:xfrm>
        </p:grpSpPr>
        <p:cxnSp>
          <p:nvCxnSpPr>
            <p:cNvPr id="37" name="Straight Connector 36">
              <a:extLst>
                <a:ext uri="{FF2B5EF4-FFF2-40B4-BE49-F238E27FC236}">
                  <a16:creationId xmlns:a16="http://schemas.microsoft.com/office/drawing/2014/main" id="{19B35668-C4BC-916B-AF49-8F2CCD40A8A5}"/>
                </a:ext>
              </a:extLst>
            </p:cNvPr>
            <p:cNvCxnSpPr/>
            <p:nvPr/>
          </p:nvCxnSpPr>
          <p:spPr>
            <a:xfrm>
              <a:off x="200891" y="2701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EAE940D-BE0E-6E4B-D369-9037FCB8D53A}"/>
                </a:ext>
              </a:extLst>
            </p:cNvPr>
            <p:cNvCxnSpPr/>
            <p:nvPr/>
          </p:nvCxnSpPr>
          <p:spPr>
            <a:xfrm>
              <a:off x="200891" y="339437"/>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9768FD6-49BD-86D2-9C7F-DD324FB1E373}"/>
                </a:ext>
              </a:extLst>
            </p:cNvPr>
            <p:cNvCxnSpPr/>
            <p:nvPr/>
          </p:nvCxnSpPr>
          <p:spPr>
            <a:xfrm>
              <a:off x="200891" y="422564"/>
              <a:ext cx="31172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1" name="Picture 40">
            <a:extLst>
              <a:ext uri="{FF2B5EF4-FFF2-40B4-BE49-F238E27FC236}">
                <a16:creationId xmlns:a16="http://schemas.microsoft.com/office/drawing/2014/main" id="{673BE670-31B9-F9E4-30CB-A2FD98AA18EC}"/>
              </a:ext>
            </a:extLst>
          </p:cNvPr>
          <p:cNvPicPr>
            <a:picLocks noChangeAspect="1"/>
          </p:cNvPicPr>
          <p:nvPr/>
        </p:nvPicPr>
        <p:blipFill>
          <a:blip r:embed="rId3"/>
          <a:stretch>
            <a:fillRect/>
          </a:stretch>
        </p:blipFill>
        <p:spPr>
          <a:xfrm>
            <a:off x="1638130" y="1143000"/>
            <a:ext cx="5330706" cy="39539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A"/>
        </a:solidFill>
        <a:effectLst/>
      </p:bgPr>
    </p:bg>
    <p:spTree>
      <p:nvGrpSpPr>
        <p:cNvPr id="1" name="">
          <a:extLst>
            <a:ext uri="{FF2B5EF4-FFF2-40B4-BE49-F238E27FC236}">
              <a16:creationId xmlns:a16="http://schemas.microsoft.com/office/drawing/2014/main" id="{AEF60479-8BEE-8DD8-F30D-97A8417CDF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DEF19EA-3727-4D8F-22B3-C40BF3D45BA1}"/>
              </a:ext>
            </a:extLst>
          </p:cNvPr>
          <p:cNvSpPr/>
          <p:nvPr/>
        </p:nvSpPr>
        <p:spPr>
          <a:xfrm>
            <a:off x="0" y="0"/>
            <a:ext cx="9144000" cy="960120"/>
          </a:xfrm>
          <a:prstGeom prst="rect">
            <a:avLst/>
          </a:prstGeom>
          <a:solidFill>
            <a:srgbClr val="0A2540"/>
          </a:solidFill>
          <a:ln/>
        </p:spPr>
        <p:txBody>
          <a:bodyPr/>
          <a:lstStyle/>
          <a:p>
            <a:endParaRPr lang="en-IN"/>
          </a:p>
        </p:txBody>
      </p:sp>
      <p:pic>
        <p:nvPicPr>
          <p:cNvPr id="3" name="Image 0" descr="preencoded.png">
            <a:extLst>
              <a:ext uri="{FF2B5EF4-FFF2-40B4-BE49-F238E27FC236}">
                <a16:creationId xmlns:a16="http://schemas.microsoft.com/office/drawing/2014/main" id="{B62BB12B-026B-9072-530B-E02D2AE2E176}"/>
              </a:ext>
            </a:extLst>
          </p:cNvPr>
          <p:cNvPicPr>
            <a:picLocks noChangeAspect="1"/>
          </p:cNvPicPr>
          <p:nvPr/>
        </p:nvPicPr>
        <p:blipFill>
          <a:blip r:embed="rId3"/>
          <a:stretch>
            <a:fillRect/>
          </a:stretch>
        </p:blipFill>
        <p:spPr>
          <a:xfrm>
            <a:off x="274320" y="182880"/>
            <a:ext cx="548640" cy="548640"/>
          </a:xfrm>
          <a:prstGeom prst="rect">
            <a:avLst/>
          </a:prstGeom>
        </p:spPr>
      </p:pic>
      <p:sp>
        <p:nvSpPr>
          <p:cNvPr id="4" name="Text 1">
            <a:extLst>
              <a:ext uri="{FF2B5EF4-FFF2-40B4-BE49-F238E27FC236}">
                <a16:creationId xmlns:a16="http://schemas.microsoft.com/office/drawing/2014/main" id="{7666BED2-A4CD-73D5-60DB-634FF3AFD437}"/>
              </a:ext>
            </a:extLst>
          </p:cNvPr>
          <p:cNvSpPr/>
          <p:nvPr/>
        </p:nvSpPr>
        <p:spPr>
          <a:xfrm>
            <a:off x="1005840" y="182880"/>
            <a:ext cx="77724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Patient Management Module</a:t>
            </a:r>
            <a:endParaRPr lang="en-US" sz="2600" dirty="0"/>
          </a:p>
        </p:txBody>
      </p:sp>
      <p:sp>
        <p:nvSpPr>
          <p:cNvPr id="5" name="Shape 2">
            <a:extLst>
              <a:ext uri="{FF2B5EF4-FFF2-40B4-BE49-F238E27FC236}">
                <a16:creationId xmlns:a16="http://schemas.microsoft.com/office/drawing/2014/main" id="{BC248C12-A19E-71AB-36B2-C2CEEAE8161F}"/>
              </a:ext>
            </a:extLst>
          </p:cNvPr>
          <p:cNvSpPr/>
          <p:nvPr/>
        </p:nvSpPr>
        <p:spPr>
          <a:xfrm>
            <a:off x="274320" y="1143000"/>
            <a:ext cx="8595360" cy="8046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3">
            <a:extLst>
              <a:ext uri="{FF2B5EF4-FFF2-40B4-BE49-F238E27FC236}">
                <a16:creationId xmlns:a16="http://schemas.microsoft.com/office/drawing/2014/main" id="{CF8E8613-5530-D1E3-F756-EB735C8FB6D7}"/>
              </a:ext>
            </a:extLst>
          </p:cNvPr>
          <p:cNvSpPr/>
          <p:nvPr/>
        </p:nvSpPr>
        <p:spPr>
          <a:xfrm>
            <a:off x="347472" y="1271016"/>
            <a:ext cx="548640" cy="548640"/>
          </a:xfrm>
          <a:prstGeom prst="ellipse">
            <a:avLst/>
          </a:prstGeom>
          <a:solidFill>
            <a:srgbClr val="028090"/>
          </a:solidFill>
          <a:ln/>
        </p:spPr>
        <p:txBody>
          <a:bodyPr/>
          <a:lstStyle/>
          <a:p>
            <a:endParaRPr lang="en-IN"/>
          </a:p>
        </p:txBody>
      </p:sp>
      <p:pic>
        <p:nvPicPr>
          <p:cNvPr id="7" name="Image 1" descr="preencoded.png">
            <a:extLst>
              <a:ext uri="{FF2B5EF4-FFF2-40B4-BE49-F238E27FC236}">
                <a16:creationId xmlns:a16="http://schemas.microsoft.com/office/drawing/2014/main" id="{65268FFF-9EA8-0033-D2DF-275B731D1982}"/>
              </a:ext>
            </a:extLst>
          </p:cNvPr>
          <p:cNvPicPr>
            <a:picLocks noChangeAspect="1"/>
          </p:cNvPicPr>
          <p:nvPr/>
        </p:nvPicPr>
        <p:blipFill>
          <a:blip r:embed="rId4"/>
          <a:stretch>
            <a:fillRect/>
          </a:stretch>
        </p:blipFill>
        <p:spPr>
          <a:xfrm>
            <a:off x="393192" y="1307592"/>
            <a:ext cx="457200" cy="457200"/>
          </a:xfrm>
          <a:prstGeom prst="rect">
            <a:avLst/>
          </a:prstGeom>
        </p:spPr>
      </p:pic>
      <p:sp>
        <p:nvSpPr>
          <p:cNvPr id="8" name="Text 4">
            <a:extLst>
              <a:ext uri="{FF2B5EF4-FFF2-40B4-BE49-F238E27FC236}">
                <a16:creationId xmlns:a16="http://schemas.microsoft.com/office/drawing/2014/main" id="{4942B255-33F5-66A6-0819-78DD4F7985D8}"/>
              </a:ext>
            </a:extLst>
          </p:cNvPr>
          <p:cNvSpPr/>
          <p:nvPr/>
        </p:nvSpPr>
        <p:spPr>
          <a:xfrm>
            <a:off x="1024128" y="1188720"/>
            <a:ext cx="2103120" cy="365760"/>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Add Patient</a:t>
            </a:r>
            <a:endParaRPr lang="en-US" sz="1300" dirty="0"/>
          </a:p>
        </p:txBody>
      </p:sp>
      <p:sp>
        <p:nvSpPr>
          <p:cNvPr id="9" name="Text 5">
            <a:extLst>
              <a:ext uri="{FF2B5EF4-FFF2-40B4-BE49-F238E27FC236}">
                <a16:creationId xmlns:a16="http://schemas.microsoft.com/office/drawing/2014/main" id="{A8EE12F9-6030-236C-4898-647BA5CA2FCA}"/>
              </a:ext>
            </a:extLst>
          </p:cNvPr>
          <p:cNvSpPr/>
          <p:nvPr/>
        </p:nvSpPr>
        <p:spPr>
          <a:xfrm>
            <a:off x="1024128" y="1536192"/>
            <a:ext cx="7680960" cy="36576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POST /api/patient</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Captures FullName, DOB, Gender, Phone, Email via stored proc sp_AddPatient with transaction.</a:t>
            </a:r>
            <a:endParaRPr lang="en-US" sz="1050" dirty="0"/>
          </a:p>
        </p:txBody>
      </p:sp>
      <p:sp>
        <p:nvSpPr>
          <p:cNvPr id="10" name="Shape 6">
            <a:extLst>
              <a:ext uri="{FF2B5EF4-FFF2-40B4-BE49-F238E27FC236}">
                <a16:creationId xmlns:a16="http://schemas.microsoft.com/office/drawing/2014/main" id="{46984948-A12C-9024-E0E3-17BEE527F316}"/>
              </a:ext>
            </a:extLst>
          </p:cNvPr>
          <p:cNvSpPr/>
          <p:nvPr/>
        </p:nvSpPr>
        <p:spPr>
          <a:xfrm>
            <a:off x="274320" y="2057400"/>
            <a:ext cx="8595360" cy="8046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1" name="Shape 7">
            <a:extLst>
              <a:ext uri="{FF2B5EF4-FFF2-40B4-BE49-F238E27FC236}">
                <a16:creationId xmlns:a16="http://schemas.microsoft.com/office/drawing/2014/main" id="{5F042E65-889B-464F-DFA0-6EC627A234BF}"/>
              </a:ext>
            </a:extLst>
          </p:cNvPr>
          <p:cNvSpPr/>
          <p:nvPr/>
        </p:nvSpPr>
        <p:spPr>
          <a:xfrm>
            <a:off x="347472" y="2185416"/>
            <a:ext cx="548640" cy="548640"/>
          </a:xfrm>
          <a:prstGeom prst="ellipse">
            <a:avLst/>
          </a:prstGeom>
          <a:solidFill>
            <a:srgbClr val="00A896"/>
          </a:solidFill>
          <a:ln/>
        </p:spPr>
        <p:txBody>
          <a:bodyPr/>
          <a:lstStyle/>
          <a:p>
            <a:endParaRPr lang="en-IN"/>
          </a:p>
        </p:txBody>
      </p:sp>
      <p:pic>
        <p:nvPicPr>
          <p:cNvPr id="12" name="Image 2" descr="preencoded.png">
            <a:extLst>
              <a:ext uri="{FF2B5EF4-FFF2-40B4-BE49-F238E27FC236}">
                <a16:creationId xmlns:a16="http://schemas.microsoft.com/office/drawing/2014/main" id="{FA6A2F80-FF08-E566-247D-A9814201CEEA}"/>
              </a:ext>
            </a:extLst>
          </p:cNvPr>
          <p:cNvPicPr>
            <a:picLocks noChangeAspect="1"/>
          </p:cNvPicPr>
          <p:nvPr/>
        </p:nvPicPr>
        <p:blipFill>
          <a:blip r:embed="rId5"/>
          <a:stretch>
            <a:fillRect/>
          </a:stretch>
        </p:blipFill>
        <p:spPr>
          <a:xfrm>
            <a:off x="438912" y="2276129"/>
            <a:ext cx="385502" cy="385502"/>
          </a:xfrm>
          <a:prstGeom prst="rect">
            <a:avLst/>
          </a:prstGeom>
        </p:spPr>
      </p:pic>
      <p:sp>
        <p:nvSpPr>
          <p:cNvPr id="13" name="Text 8">
            <a:extLst>
              <a:ext uri="{FF2B5EF4-FFF2-40B4-BE49-F238E27FC236}">
                <a16:creationId xmlns:a16="http://schemas.microsoft.com/office/drawing/2014/main" id="{430EF385-6625-482D-AE00-E9052DB809A9}"/>
              </a:ext>
            </a:extLst>
          </p:cNvPr>
          <p:cNvSpPr/>
          <p:nvPr/>
        </p:nvSpPr>
        <p:spPr>
          <a:xfrm>
            <a:off x="1024128" y="2103120"/>
            <a:ext cx="2103120" cy="365760"/>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Update Patient</a:t>
            </a:r>
            <a:endParaRPr lang="en-US" sz="1300" dirty="0"/>
          </a:p>
        </p:txBody>
      </p:sp>
      <p:sp>
        <p:nvSpPr>
          <p:cNvPr id="14" name="Text 9">
            <a:extLst>
              <a:ext uri="{FF2B5EF4-FFF2-40B4-BE49-F238E27FC236}">
                <a16:creationId xmlns:a16="http://schemas.microsoft.com/office/drawing/2014/main" id="{A0760B9A-493C-31D3-BEE0-5BAB52204736}"/>
              </a:ext>
            </a:extLst>
          </p:cNvPr>
          <p:cNvSpPr/>
          <p:nvPr/>
        </p:nvSpPr>
        <p:spPr>
          <a:xfrm>
            <a:off x="1024128" y="2450592"/>
            <a:ext cx="7680960" cy="36576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PUT /api/patient/{id}</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Partial update using ISNULL pattern — only provided fields are changed.</a:t>
            </a:r>
            <a:endParaRPr lang="en-US" sz="1050" dirty="0"/>
          </a:p>
        </p:txBody>
      </p:sp>
      <p:sp>
        <p:nvSpPr>
          <p:cNvPr id="15" name="Shape 10">
            <a:extLst>
              <a:ext uri="{FF2B5EF4-FFF2-40B4-BE49-F238E27FC236}">
                <a16:creationId xmlns:a16="http://schemas.microsoft.com/office/drawing/2014/main" id="{88CC8AB2-4B21-D32D-9DD4-31C460FAFD81}"/>
              </a:ext>
            </a:extLst>
          </p:cNvPr>
          <p:cNvSpPr/>
          <p:nvPr/>
        </p:nvSpPr>
        <p:spPr>
          <a:xfrm>
            <a:off x="274320" y="2971800"/>
            <a:ext cx="8595360" cy="8046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6" name="Shape 11">
            <a:extLst>
              <a:ext uri="{FF2B5EF4-FFF2-40B4-BE49-F238E27FC236}">
                <a16:creationId xmlns:a16="http://schemas.microsoft.com/office/drawing/2014/main" id="{8B999AE2-636A-3BEB-AE71-82FD0A6F0384}"/>
              </a:ext>
            </a:extLst>
          </p:cNvPr>
          <p:cNvSpPr/>
          <p:nvPr/>
        </p:nvSpPr>
        <p:spPr>
          <a:xfrm>
            <a:off x="347472" y="3099816"/>
            <a:ext cx="548640" cy="548640"/>
          </a:xfrm>
          <a:prstGeom prst="ellipse">
            <a:avLst/>
          </a:prstGeom>
          <a:solidFill>
            <a:srgbClr val="02C39A"/>
          </a:solidFill>
          <a:ln/>
        </p:spPr>
        <p:txBody>
          <a:bodyPr/>
          <a:lstStyle/>
          <a:p>
            <a:endParaRPr lang="en-IN"/>
          </a:p>
        </p:txBody>
      </p:sp>
      <p:pic>
        <p:nvPicPr>
          <p:cNvPr id="17" name="Image 3" descr="preencoded.png">
            <a:extLst>
              <a:ext uri="{FF2B5EF4-FFF2-40B4-BE49-F238E27FC236}">
                <a16:creationId xmlns:a16="http://schemas.microsoft.com/office/drawing/2014/main" id="{C902B8E7-4C5C-7A76-2CA9-8CF8976626C7}"/>
              </a:ext>
            </a:extLst>
          </p:cNvPr>
          <p:cNvPicPr>
            <a:picLocks noChangeAspect="1"/>
          </p:cNvPicPr>
          <p:nvPr/>
        </p:nvPicPr>
        <p:blipFill>
          <a:blip r:embed="rId6"/>
          <a:stretch>
            <a:fillRect/>
          </a:stretch>
        </p:blipFill>
        <p:spPr>
          <a:xfrm>
            <a:off x="438912" y="3216194"/>
            <a:ext cx="334172" cy="334172"/>
          </a:xfrm>
          <a:prstGeom prst="rect">
            <a:avLst/>
          </a:prstGeom>
        </p:spPr>
      </p:pic>
      <p:sp>
        <p:nvSpPr>
          <p:cNvPr id="18" name="Text 12">
            <a:extLst>
              <a:ext uri="{FF2B5EF4-FFF2-40B4-BE49-F238E27FC236}">
                <a16:creationId xmlns:a16="http://schemas.microsoft.com/office/drawing/2014/main" id="{2A04D81B-8AFE-0A37-C8BF-7943CE727110}"/>
              </a:ext>
            </a:extLst>
          </p:cNvPr>
          <p:cNvSpPr/>
          <p:nvPr/>
        </p:nvSpPr>
        <p:spPr>
          <a:xfrm>
            <a:off x="1024128" y="3017520"/>
            <a:ext cx="2103120" cy="365760"/>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Get All Patients</a:t>
            </a:r>
            <a:endParaRPr lang="en-US" sz="1300" dirty="0"/>
          </a:p>
        </p:txBody>
      </p:sp>
      <p:sp>
        <p:nvSpPr>
          <p:cNvPr id="19" name="Text 13">
            <a:extLst>
              <a:ext uri="{FF2B5EF4-FFF2-40B4-BE49-F238E27FC236}">
                <a16:creationId xmlns:a16="http://schemas.microsoft.com/office/drawing/2014/main" id="{56480373-96F9-60F0-A82E-30D0C5805A68}"/>
              </a:ext>
            </a:extLst>
          </p:cNvPr>
          <p:cNvSpPr/>
          <p:nvPr/>
        </p:nvSpPr>
        <p:spPr>
          <a:xfrm>
            <a:off x="1024128" y="3364992"/>
            <a:ext cx="7680960" cy="36576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GET /api/patient</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Returns all active patients (IsActive=1) via sp_GetAllPatients.</a:t>
            </a:r>
            <a:endParaRPr lang="en-US" sz="1050" dirty="0"/>
          </a:p>
        </p:txBody>
      </p:sp>
      <p:sp>
        <p:nvSpPr>
          <p:cNvPr id="20" name="Shape 14">
            <a:extLst>
              <a:ext uri="{FF2B5EF4-FFF2-40B4-BE49-F238E27FC236}">
                <a16:creationId xmlns:a16="http://schemas.microsoft.com/office/drawing/2014/main" id="{50D6D771-C660-3AE1-AB7C-06D19E775544}"/>
              </a:ext>
            </a:extLst>
          </p:cNvPr>
          <p:cNvSpPr/>
          <p:nvPr/>
        </p:nvSpPr>
        <p:spPr>
          <a:xfrm>
            <a:off x="274320" y="3886200"/>
            <a:ext cx="8595360" cy="8046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1" name="Shape 15">
            <a:extLst>
              <a:ext uri="{FF2B5EF4-FFF2-40B4-BE49-F238E27FC236}">
                <a16:creationId xmlns:a16="http://schemas.microsoft.com/office/drawing/2014/main" id="{6A856F85-81DB-DDF3-7C1A-61E5AD3B6971}"/>
              </a:ext>
            </a:extLst>
          </p:cNvPr>
          <p:cNvSpPr/>
          <p:nvPr/>
        </p:nvSpPr>
        <p:spPr>
          <a:xfrm>
            <a:off x="347472" y="4014216"/>
            <a:ext cx="548640" cy="548640"/>
          </a:xfrm>
          <a:prstGeom prst="ellipse">
            <a:avLst/>
          </a:prstGeom>
          <a:solidFill>
            <a:srgbClr val="B85042"/>
          </a:solidFill>
          <a:ln/>
        </p:spPr>
        <p:txBody>
          <a:bodyPr/>
          <a:lstStyle/>
          <a:p>
            <a:endParaRPr lang="en-IN"/>
          </a:p>
        </p:txBody>
      </p:sp>
      <p:pic>
        <p:nvPicPr>
          <p:cNvPr id="22" name="Image 4" descr="preencoded.png">
            <a:extLst>
              <a:ext uri="{FF2B5EF4-FFF2-40B4-BE49-F238E27FC236}">
                <a16:creationId xmlns:a16="http://schemas.microsoft.com/office/drawing/2014/main" id="{46A10438-AB4F-D9C7-C0AE-A3223EC56016}"/>
              </a:ext>
            </a:extLst>
          </p:cNvPr>
          <p:cNvPicPr>
            <a:picLocks noChangeAspect="1"/>
          </p:cNvPicPr>
          <p:nvPr/>
        </p:nvPicPr>
        <p:blipFill>
          <a:blip r:embed="rId7"/>
          <a:stretch>
            <a:fillRect/>
          </a:stretch>
        </p:blipFill>
        <p:spPr>
          <a:xfrm>
            <a:off x="393192" y="4050792"/>
            <a:ext cx="457200" cy="457200"/>
          </a:xfrm>
          <a:prstGeom prst="rect">
            <a:avLst/>
          </a:prstGeom>
        </p:spPr>
      </p:pic>
      <p:sp>
        <p:nvSpPr>
          <p:cNvPr id="23" name="Text 16">
            <a:extLst>
              <a:ext uri="{FF2B5EF4-FFF2-40B4-BE49-F238E27FC236}">
                <a16:creationId xmlns:a16="http://schemas.microsoft.com/office/drawing/2014/main" id="{62208B9B-174F-5F84-36C9-77DA56098D6E}"/>
              </a:ext>
            </a:extLst>
          </p:cNvPr>
          <p:cNvSpPr/>
          <p:nvPr/>
        </p:nvSpPr>
        <p:spPr>
          <a:xfrm>
            <a:off x="1024128" y="3931920"/>
            <a:ext cx="2103120" cy="365760"/>
          </a:xfrm>
          <a:prstGeom prst="rect">
            <a:avLst/>
          </a:prstGeom>
          <a:noFill/>
          <a:ln/>
        </p:spPr>
        <p:txBody>
          <a:bodyPr wrap="square" rtlCol="0" anchor="ctr"/>
          <a:lstStyle/>
          <a:p>
            <a:pPr marL="0" indent="0">
              <a:buNone/>
            </a:pPr>
            <a:r>
              <a:rPr lang="en-US" sz="1300" b="1" dirty="0">
                <a:solidFill>
                  <a:srgbClr val="0A2540"/>
                </a:solidFill>
                <a:latin typeface="Calibri" pitchFamily="34" charset="0"/>
                <a:ea typeface="Calibri" pitchFamily="34" charset="-122"/>
                <a:cs typeface="Calibri" pitchFamily="34" charset="-120"/>
              </a:rPr>
              <a:t>Deactivate Patient</a:t>
            </a:r>
            <a:endParaRPr lang="en-US" sz="1300" dirty="0"/>
          </a:p>
        </p:txBody>
      </p:sp>
      <p:sp>
        <p:nvSpPr>
          <p:cNvPr id="24" name="Text 17">
            <a:extLst>
              <a:ext uri="{FF2B5EF4-FFF2-40B4-BE49-F238E27FC236}">
                <a16:creationId xmlns:a16="http://schemas.microsoft.com/office/drawing/2014/main" id="{226149CA-DB05-9A0E-6E8D-2623906C7CB8}"/>
              </a:ext>
            </a:extLst>
          </p:cNvPr>
          <p:cNvSpPr/>
          <p:nvPr/>
        </p:nvSpPr>
        <p:spPr>
          <a:xfrm>
            <a:off x="1024128" y="4279392"/>
            <a:ext cx="7680960" cy="36576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DELETE /api/patient/{id}</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Soft delete — sets IsActive=0 rather than physically removing the record.</a:t>
            </a:r>
            <a:endParaRPr lang="en-US" sz="1050" dirty="0"/>
          </a:p>
        </p:txBody>
      </p:sp>
    </p:spTree>
    <p:extLst>
      <p:ext uri="{BB962C8B-B14F-4D97-AF65-F5344CB8AC3E}">
        <p14:creationId xmlns:p14="http://schemas.microsoft.com/office/powerpoint/2010/main" val="2202888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3B6B"/>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274320" y="182880"/>
            <a:ext cx="548640" cy="548640"/>
          </a:xfrm>
          <a:prstGeom prst="rect">
            <a:avLst/>
          </a:prstGeom>
        </p:spPr>
      </p:pic>
      <p:sp>
        <p:nvSpPr>
          <p:cNvPr id="4" name="Text 1"/>
          <p:cNvSpPr/>
          <p:nvPr/>
        </p:nvSpPr>
        <p:spPr>
          <a:xfrm>
            <a:off x="1005840" y="182880"/>
            <a:ext cx="77724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Doctor Management Module</a:t>
            </a:r>
            <a:endParaRPr lang="en-US" sz="2600" dirty="0"/>
          </a:p>
        </p:txBody>
      </p:sp>
      <p:sp>
        <p:nvSpPr>
          <p:cNvPr id="5" name="Shape 2"/>
          <p:cNvSpPr/>
          <p:nvPr/>
        </p:nvSpPr>
        <p:spPr>
          <a:xfrm>
            <a:off x="274320" y="1097280"/>
            <a:ext cx="4023360" cy="35661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3"/>
          <p:cNvSpPr/>
          <p:nvPr/>
        </p:nvSpPr>
        <p:spPr>
          <a:xfrm>
            <a:off x="274320" y="1097280"/>
            <a:ext cx="4023360" cy="411480"/>
          </a:xfrm>
          <a:prstGeom prst="rect">
            <a:avLst/>
          </a:prstGeom>
          <a:solidFill>
            <a:srgbClr val="028090"/>
          </a:solidFill>
          <a:ln/>
        </p:spPr>
        <p:txBody>
          <a:bodyPr/>
          <a:lstStyle/>
          <a:p>
            <a:endParaRPr lang="en-IN"/>
          </a:p>
        </p:txBody>
      </p:sp>
      <p:sp>
        <p:nvSpPr>
          <p:cNvPr id="7" name="Text 4"/>
          <p:cNvSpPr/>
          <p:nvPr/>
        </p:nvSpPr>
        <p:spPr>
          <a:xfrm>
            <a:off x="274320" y="1097280"/>
            <a:ext cx="402336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API Endpoints</a:t>
            </a:r>
            <a:endParaRPr lang="en-US" sz="1300" dirty="0"/>
          </a:p>
        </p:txBody>
      </p:sp>
      <p:sp>
        <p:nvSpPr>
          <p:cNvPr id="8" name="Shape 5"/>
          <p:cNvSpPr/>
          <p:nvPr/>
        </p:nvSpPr>
        <p:spPr>
          <a:xfrm>
            <a:off x="457200" y="1645920"/>
            <a:ext cx="594360" cy="274320"/>
          </a:xfrm>
          <a:prstGeom prst="roundRect">
            <a:avLst>
              <a:gd name="adj" fmla="val 13333"/>
            </a:avLst>
          </a:prstGeom>
          <a:solidFill>
            <a:srgbClr val="028090"/>
          </a:solidFill>
          <a:ln/>
        </p:spPr>
        <p:txBody>
          <a:bodyPr/>
          <a:lstStyle/>
          <a:p>
            <a:endParaRPr lang="en-IN"/>
          </a:p>
        </p:txBody>
      </p:sp>
      <p:sp>
        <p:nvSpPr>
          <p:cNvPr id="9" name="Text 6"/>
          <p:cNvSpPr/>
          <p:nvPr/>
        </p:nvSpPr>
        <p:spPr>
          <a:xfrm>
            <a:off x="457200" y="1645920"/>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POST</a:t>
            </a:r>
            <a:endParaRPr lang="en-US" sz="900" dirty="0"/>
          </a:p>
        </p:txBody>
      </p:sp>
      <p:sp>
        <p:nvSpPr>
          <p:cNvPr id="10" name="Text 7"/>
          <p:cNvSpPr/>
          <p:nvPr/>
        </p:nvSpPr>
        <p:spPr>
          <a:xfrm>
            <a:off x="1115568" y="1645920"/>
            <a:ext cx="3017520" cy="27432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/api/doctor</a:t>
            </a:r>
            <a:endParaRPr lang="en-US" sz="1000" dirty="0"/>
          </a:p>
        </p:txBody>
      </p:sp>
      <p:sp>
        <p:nvSpPr>
          <p:cNvPr id="11" name="Text 8"/>
          <p:cNvSpPr/>
          <p:nvPr/>
        </p:nvSpPr>
        <p:spPr>
          <a:xfrm>
            <a:off x="457200" y="1965960"/>
            <a:ext cx="3657600" cy="32004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Register a new doctor</a:t>
            </a:r>
            <a:endParaRPr lang="en-US" sz="1000" dirty="0"/>
          </a:p>
        </p:txBody>
      </p:sp>
      <p:sp>
        <p:nvSpPr>
          <p:cNvPr id="12" name="Shape 9"/>
          <p:cNvSpPr/>
          <p:nvPr/>
        </p:nvSpPr>
        <p:spPr>
          <a:xfrm>
            <a:off x="457200" y="2423160"/>
            <a:ext cx="594360" cy="274320"/>
          </a:xfrm>
          <a:prstGeom prst="roundRect">
            <a:avLst>
              <a:gd name="adj" fmla="val 13333"/>
            </a:avLst>
          </a:prstGeom>
          <a:solidFill>
            <a:srgbClr val="00A896"/>
          </a:solidFill>
          <a:ln/>
        </p:spPr>
        <p:txBody>
          <a:bodyPr/>
          <a:lstStyle/>
          <a:p>
            <a:endParaRPr lang="en-IN"/>
          </a:p>
        </p:txBody>
      </p:sp>
      <p:sp>
        <p:nvSpPr>
          <p:cNvPr id="13" name="Text 10"/>
          <p:cNvSpPr/>
          <p:nvPr/>
        </p:nvSpPr>
        <p:spPr>
          <a:xfrm>
            <a:off x="457200" y="2423160"/>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14" name="Text 11"/>
          <p:cNvSpPr/>
          <p:nvPr/>
        </p:nvSpPr>
        <p:spPr>
          <a:xfrm>
            <a:off x="1115568" y="2423160"/>
            <a:ext cx="3017520" cy="27432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/api/doctor</a:t>
            </a:r>
            <a:endParaRPr lang="en-US" sz="1000" dirty="0"/>
          </a:p>
        </p:txBody>
      </p:sp>
      <p:sp>
        <p:nvSpPr>
          <p:cNvPr id="15" name="Text 12"/>
          <p:cNvSpPr/>
          <p:nvPr/>
        </p:nvSpPr>
        <p:spPr>
          <a:xfrm>
            <a:off x="457200" y="2743200"/>
            <a:ext cx="3657600" cy="32004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List all doctors</a:t>
            </a:r>
            <a:endParaRPr lang="en-US" sz="1000" dirty="0"/>
          </a:p>
        </p:txBody>
      </p:sp>
      <p:sp>
        <p:nvSpPr>
          <p:cNvPr id="16" name="Shape 13"/>
          <p:cNvSpPr/>
          <p:nvPr/>
        </p:nvSpPr>
        <p:spPr>
          <a:xfrm>
            <a:off x="457200" y="3200400"/>
            <a:ext cx="594360" cy="274320"/>
          </a:xfrm>
          <a:prstGeom prst="roundRect">
            <a:avLst>
              <a:gd name="adj" fmla="val 13333"/>
            </a:avLst>
          </a:prstGeom>
          <a:solidFill>
            <a:srgbClr val="00A896"/>
          </a:solidFill>
          <a:ln/>
        </p:spPr>
        <p:txBody>
          <a:bodyPr/>
          <a:lstStyle/>
          <a:p>
            <a:endParaRPr lang="en-IN"/>
          </a:p>
        </p:txBody>
      </p:sp>
      <p:sp>
        <p:nvSpPr>
          <p:cNvPr id="17" name="Text 14"/>
          <p:cNvSpPr/>
          <p:nvPr/>
        </p:nvSpPr>
        <p:spPr>
          <a:xfrm>
            <a:off x="457200" y="3200400"/>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18" name="Text 15"/>
          <p:cNvSpPr/>
          <p:nvPr/>
        </p:nvSpPr>
        <p:spPr>
          <a:xfrm>
            <a:off x="1115568" y="3200400"/>
            <a:ext cx="3017520" cy="27432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/api/doctor/specialization/{s}</a:t>
            </a:r>
            <a:endParaRPr lang="en-US" sz="1000" dirty="0"/>
          </a:p>
        </p:txBody>
      </p:sp>
      <p:sp>
        <p:nvSpPr>
          <p:cNvPr id="19" name="Text 16"/>
          <p:cNvSpPr/>
          <p:nvPr/>
        </p:nvSpPr>
        <p:spPr>
          <a:xfrm>
            <a:off x="457200" y="3520440"/>
            <a:ext cx="3657600" cy="32004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Filter by specialization</a:t>
            </a:r>
            <a:endParaRPr lang="en-US" sz="1000" dirty="0"/>
          </a:p>
        </p:txBody>
      </p:sp>
      <p:sp>
        <p:nvSpPr>
          <p:cNvPr id="20" name="Shape 17"/>
          <p:cNvSpPr/>
          <p:nvPr/>
        </p:nvSpPr>
        <p:spPr>
          <a:xfrm>
            <a:off x="4663440" y="1097280"/>
            <a:ext cx="4206240" cy="35661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1" name="Shape 18"/>
          <p:cNvSpPr/>
          <p:nvPr/>
        </p:nvSpPr>
        <p:spPr>
          <a:xfrm>
            <a:off x="4663440" y="1097280"/>
            <a:ext cx="4206240" cy="411480"/>
          </a:xfrm>
          <a:prstGeom prst="rect">
            <a:avLst/>
          </a:prstGeom>
          <a:solidFill>
            <a:srgbClr val="00A896"/>
          </a:solidFill>
          <a:ln/>
        </p:spPr>
        <p:txBody>
          <a:bodyPr/>
          <a:lstStyle/>
          <a:p>
            <a:endParaRPr lang="en-IN"/>
          </a:p>
        </p:txBody>
      </p:sp>
      <p:sp>
        <p:nvSpPr>
          <p:cNvPr id="22" name="Text 19"/>
          <p:cNvSpPr/>
          <p:nvPr/>
        </p:nvSpPr>
        <p:spPr>
          <a:xfrm>
            <a:off x="4663440" y="1097280"/>
            <a:ext cx="420624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Doctor Profile Fields</a:t>
            </a:r>
            <a:endParaRPr lang="en-US" sz="1300" dirty="0"/>
          </a:p>
        </p:txBody>
      </p:sp>
      <p:sp>
        <p:nvSpPr>
          <p:cNvPr id="23" name="Text 20"/>
          <p:cNvSpPr/>
          <p:nvPr/>
        </p:nvSpPr>
        <p:spPr>
          <a:xfrm>
            <a:off x="4800600" y="1645920"/>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DoctorCode</a:t>
            </a:r>
            <a:endParaRPr lang="en-US" sz="1100" dirty="0"/>
          </a:p>
        </p:txBody>
      </p:sp>
      <p:sp>
        <p:nvSpPr>
          <p:cNvPr id="24" name="Text 21"/>
          <p:cNvSpPr/>
          <p:nvPr/>
        </p:nvSpPr>
        <p:spPr>
          <a:xfrm>
            <a:off x="6583680" y="1645920"/>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Auto-incremented from 100</a:t>
            </a:r>
            <a:endParaRPr lang="en-US" sz="1000" dirty="0"/>
          </a:p>
        </p:txBody>
      </p:sp>
      <p:sp>
        <p:nvSpPr>
          <p:cNvPr id="25" name="Shape 22"/>
          <p:cNvSpPr/>
          <p:nvPr/>
        </p:nvSpPr>
        <p:spPr>
          <a:xfrm>
            <a:off x="4800600" y="1993392"/>
            <a:ext cx="3840480" cy="0"/>
          </a:xfrm>
          <a:prstGeom prst="line">
            <a:avLst/>
          </a:prstGeom>
          <a:noFill/>
          <a:ln w="6350">
            <a:solidFill>
              <a:srgbClr val="E2EEF4"/>
            </a:solidFill>
            <a:prstDash val="solid"/>
          </a:ln>
        </p:spPr>
        <p:txBody>
          <a:bodyPr/>
          <a:lstStyle/>
          <a:p>
            <a:endParaRPr lang="en-IN"/>
          </a:p>
        </p:txBody>
      </p:sp>
      <p:sp>
        <p:nvSpPr>
          <p:cNvPr id="26" name="Text 23"/>
          <p:cNvSpPr/>
          <p:nvPr/>
        </p:nvSpPr>
        <p:spPr>
          <a:xfrm>
            <a:off x="4800600" y="2112264"/>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FullName</a:t>
            </a:r>
            <a:endParaRPr lang="en-US" sz="1100" dirty="0"/>
          </a:p>
        </p:txBody>
      </p:sp>
      <p:sp>
        <p:nvSpPr>
          <p:cNvPr id="27" name="Text 24"/>
          <p:cNvSpPr/>
          <p:nvPr/>
        </p:nvSpPr>
        <p:spPr>
          <a:xfrm>
            <a:off x="6583680" y="2112264"/>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VARCHAR(100) – required</a:t>
            </a:r>
            <a:endParaRPr lang="en-US" sz="1000" dirty="0"/>
          </a:p>
        </p:txBody>
      </p:sp>
      <p:sp>
        <p:nvSpPr>
          <p:cNvPr id="28" name="Shape 25"/>
          <p:cNvSpPr/>
          <p:nvPr/>
        </p:nvSpPr>
        <p:spPr>
          <a:xfrm>
            <a:off x="4800600" y="2459736"/>
            <a:ext cx="3840480" cy="0"/>
          </a:xfrm>
          <a:prstGeom prst="line">
            <a:avLst/>
          </a:prstGeom>
          <a:noFill/>
          <a:ln w="6350">
            <a:solidFill>
              <a:srgbClr val="E2EEF4"/>
            </a:solidFill>
            <a:prstDash val="solid"/>
          </a:ln>
        </p:spPr>
        <p:txBody>
          <a:bodyPr/>
          <a:lstStyle/>
          <a:p>
            <a:endParaRPr lang="en-IN"/>
          </a:p>
        </p:txBody>
      </p:sp>
      <p:sp>
        <p:nvSpPr>
          <p:cNvPr id="29" name="Text 26"/>
          <p:cNvSpPr/>
          <p:nvPr/>
        </p:nvSpPr>
        <p:spPr>
          <a:xfrm>
            <a:off x="4800600" y="2578608"/>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Specialization</a:t>
            </a:r>
            <a:endParaRPr lang="en-US" sz="1100" dirty="0"/>
          </a:p>
        </p:txBody>
      </p:sp>
      <p:sp>
        <p:nvSpPr>
          <p:cNvPr id="30" name="Text 27"/>
          <p:cNvSpPr/>
          <p:nvPr/>
        </p:nvSpPr>
        <p:spPr>
          <a:xfrm>
            <a:off x="6583680" y="2578608"/>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E.g. Cardiology, Neurology</a:t>
            </a:r>
            <a:endParaRPr lang="en-US" sz="1000" dirty="0"/>
          </a:p>
        </p:txBody>
      </p:sp>
      <p:sp>
        <p:nvSpPr>
          <p:cNvPr id="31" name="Shape 28"/>
          <p:cNvSpPr/>
          <p:nvPr/>
        </p:nvSpPr>
        <p:spPr>
          <a:xfrm>
            <a:off x="4800600" y="2926080"/>
            <a:ext cx="3840480" cy="0"/>
          </a:xfrm>
          <a:prstGeom prst="line">
            <a:avLst/>
          </a:prstGeom>
          <a:noFill/>
          <a:ln w="6350">
            <a:solidFill>
              <a:srgbClr val="E2EEF4"/>
            </a:solidFill>
            <a:prstDash val="solid"/>
          </a:ln>
        </p:spPr>
        <p:txBody>
          <a:bodyPr/>
          <a:lstStyle/>
          <a:p>
            <a:endParaRPr lang="en-IN"/>
          </a:p>
        </p:txBody>
      </p:sp>
      <p:sp>
        <p:nvSpPr>
          <p:cNvPr id="32" name="Text 29"/>
          <p:cNvSpPr/>
          <p:nvPr/>
        </p:nvSpPr>
        <p:spPr>
          <a:xfrm>
            <a:off x="4800600" y="3044952"/>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Phone</a:t>
            </a:r>
            <a:endParaRPr lang="en-US" sz="1100" dirty="0"/>
          </a:p>
        </p:txBody>
      </p:sp>
      <p:sp>
        <p:nvSpPr>
          <p:cNvPr id="33" name="Text 30"/>
          <p:cNvSpPr/>
          <p:nvPr/>
        </p:nvSpPr>
        <p:spPr>
          <a:xfrm>
            <a:off x="6583680" y="3044952"/>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Unique constraint enforced</a:t>
            </a:r>
            <a:endParaRPr lang="en-US" sz="1000" dirty="0"/>
          </a:p>
        </p:txBody>
      </p:sp>
      <p:sp>
        <p:nvSpPr>
          <p:cNvPr id="34" name="Shape 31"/>
          <p:cNvSpPr/>
          <p:nvPr/>
        </p:nvSpPr>
        <p:spPr>
          <a:xfrm>
            <a:off x="4800600" y="3392424"/>
            <a:ext cx="3840480" cy="0"/>
          </a:xfrm>
          <a:prstGeom prst="line">
            <a:avLst/>
          </a:prstGeom>
          <a:noFill/>
          <a:ln w="6350">
            <a:solidFill>
              <a:srgbClr val="E2EEF4"/>
            </a:solidFill>
            <a:prstDash val="solid"/>
          </a:ln>
        </p:spPr>
        <p:txBody>
          <a:bodyPr/>
          <a:lstStyle/>
          <a:p>
            <a:endParaRPr lang="en-IN"/>
          </a:p>
        </p:txBody>
      </p:sp>
      <p:sp>
        <p:nvSpPr>
          <p:cNvPr id="35" name="Text 32"/>
          <p:cNvSpPr/>
          <p:nvPr/>
        </p:nvSpPr>
        <p:spPr>
          <a:xfrm>
            <a:off x="4800600" y="3511296"/>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ConsultationFee</a:t>
            </a:r>
            <a:endParaRPr lang="en-US" sz="1100" dirty="0"/>
          </a:p>
        </p:txBody>
      </p:sp>
      <p:sp>
        <p:nvSpPr>
          <p:cNvPr id="36" name="Text 33"/>
          <p:cNvSpPr/>
          <p:nvPr/>
        </p:nvSpPr>
        <p:spPr>
          <a:xfrm>
            <a:off x="6583680" y="3511296"/>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DECIMAL – must be &gt; 0 (CHECK)</a:t>
            </a:r>
            <a:endParaRPr lang="en-US" sz="1000" dirty="0"/>
          </a:p>
        </p:txBody>
      </p:sp>
      <p:sp>
        <p:nvSpPr>
          <p:cNvPr id="37" name="Shape 34"/>
          <p:cNvSpPr/>
          <p:nvPr/>
        </p:nvSpPr>
        <p:spPr>
          <a:xfrm>
            <a:off x="4800600" y="3858768"/>
            <a:ext cx="3840480" cy="0"/>
          </a:xfrm>
          <a:prstGeom prst="line">
            <a:avLst/>
          </a:prstGeom>
          <a:noFill/>
          <a:ln w="6350">
            <a:solidFill>
              <a:srgbClr val="E2EEF4"/>
            </a:solidFill>
            <a:prstDash val="solid"/>
          </a:ln>
        </p:spPr>
        <p:txBody>
          <a:bodyPr/>
          <a:lstStyle/>
          <a:p>
            <a:endParaRPr lang="en-IN"/>
          </a:p>
        </p:txBody>
      </p:sp>
      <p:sp>
        <p:nvSpPr>
          <p:cNvPr id="38" name="Text 35"/>
          <p:cNvSpPr/>
          <p:nvPr/>
        </p:nvSpPr>
        <p:spPr>
          <a:xfrm>
            <a:off x="4800600" y="3977640"/>
            <a:ext cx="1737360" cy="347472"/>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IsAvailable</a:t>
            </a:r>
            <a:endParaRPr lang="en-US" sz="1100" dirty="0"/>
          </a:p>
        </p:txBody>
      </p:sp>
      <p:sp>
        <p:nvSpPr>
          <p:cNvPr id="39" name="Text 36"/>
          <p:cNvSpPr/>
          <p:nvPr/>
        </p:nvSpPr>
        <p:spPr>
          <a:xfrm>
            <a:off x="6583680" y="3977640"/>
            <a:ext cx="2148840" cy="34747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BIT – default 1 (true)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6E5F"/>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274320" y="182880"/>
            <a:ext cx="548640" cy="548640"/>
          </a:xfrm>
          <a:prstGeom prst="rect">
            <a:avLst/>
          </a:prstGeom>
        </p:spPr>
      </p:pic>
      <p:sp>
        <p:nvSpPr>
          <p:cNvPr id="4" name="Text 1"/>
          <p:cNvSpPr/>
          <p:nvPr/>
        </p:nvSpPr>
        <p:spPr>
          <a:xfrm>
            <a:off x="1005840" y="182880"/>
            <a:ext cx="77724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Appointment Management Module</a:t>
            </a:r>
            <a:endParaRPr lang="en-US" sz="2600" dirty="0"/>
          </a:p>
        </p:txBody>
      </p:sp>
      <p:sp>
        <p:nvSpPr>
          <p:cNvPr id="5" name="Text 2"/>
          <p:cNvSpPr/>
          <p:nvPr/>
        </p:nvSpPr>
        <p:spPr>
          <a:xfrm>
            <a:off x="457200" y="1051560"/>
            <a:ext cx="8229600" cy="347472"/>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Appointment Status Lifecycle</a:t>
            </a:r>
            <a:endParaRPr lang="en-US" sz="1300" dirty="0"/>
          </a:p>
        </p:txBody>
      </p:sp>
      <p:sp>
        <p:nvSpPr>
          <p:cNvPr id="6" name="Shape 3"/>
          <p:cNvSpPr/>
          <p:nvPr/>
        </p:nvSpPr>
        <p:spPr>
          <a:xfrm>
            <a:off x="914400" y="1508760"/>
            <a:ext cx="2011680" cy="594360"/>
          </a:xfrm>
          <a:prstGeom prst="roundRect">
            <a:avLst>
              <a:gd name="adj" fmla="val 18462"/>
            </a:avLst>
          </a:prstGeom>
          <a:solidFill>
            <a:srgbClr val="028090"/>
          </a:solidFill>
          <a:ln/>
        </p:spPr>
        <p:txBody>
          <a:bodyPr/>
          <a:lstStyle/>
          <a:p>
            <a:endParaRPr lang="en-IN"/>
          </a:p>
        </p:txBody>
      </p:sp>
      <p:sp>
        <p:nvSpPr>
          <p:cNvPr id="7" name="Text 4"/>
          <p:cNvSpPr/>
          <p:nvPr/>
        </p:nvSpPr>
        <p:spPr>
          <a:xfrm>
            <a:off x="914400" y="1508760"/>
            <a:ext cx="2011680" cy="594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Scheduled</a:t>
            </a:r>
            <a:endParaRPr lang="en-US" sz="1400" dirty="0"/>
          </a:p>
        </p:txBody>
      </p:sp>
      <p:sp>
        <p:nvSpPr>
          <p:cNvPr id="8" name="Shape 5"/>
          <p:cNvSpPr/>
          <p:nvPr/>
        </p:nvSpPr>
        <p:spPr>
          <a:xfrm>
            <a:off x="2926080" y="1805940"/>
            <a:ext cx="822960" cy="0"/>
          </a:xfrm>
          <a:prstGeom prst="line">
            <a:avLst/>
          </a:prstGeom>
          <a:noFill/>
          <a:ln w="25400">
            <a:solidFill>
              <a:srgbClr val="64748B"/>
            </a:solidFill>
            <a:prstDash val="solid"/>
          </a:ln>
        </p:spPr>
        <p:txBody>
          <a:bodyPr/>
          <a:lstStyle/>
          <a:p>
            <a:endParaRPr lang="en-IN"/>
          </a:p>
        </p:txBody>
      </p:sp>
      <p:sp>
        <p:nvSpPr>
          <p:cNvPr id="9" name="Shape 6"/>
          <p:cNvSpPr/>
          <p:nvPr/>
        </p:nvSpPr>
        <p:spPr>
          <a:xfrm>
            <a:off x="3749040" y="1508760"/>
            <a:ext cx="2011680" cy="594360"/>
          </a:xfrm>
          <a:prstGeom prst="roundRect">
            <a:avLst>
              <a:gd name="adj" fmla="val 18462"/>
            </a:avLst>
          </a:prstGeom>
          <a:solidFill>
            <a:srgbClr val="02C39A"/>
          </a:solidFill>
          <a:ln/>
        </p:spPr>
        <p:txBody>
          <a:bodyPr/>
          <a:lstStyle/>
          <a:p>
            <a:endParaRPr lang="en-IN"/>
          </a:p>
        </p:txBody>
      </p:sp>
      <p:sp>
        <p:nvSpPr>
          <p:cNvPr id="10" name="Text 7"/>
          <p:cNvSpPr/>
          <p:nvPr/>
        </p:nvSpPr>
        <p:spPr>
          <a:xfrm>
            <a:off x="3749040" y="1508760"/>
            <a:ext cx="2011680" cy="594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Completed</a:t>
            </a:r>
            <a:endParaRPr lang="en-US" sz="1400" dirty="0"/>
          </a:p>
        </p:txBody>
      </p:sp>
      <p:sp>
        <p:nvSpPr>
          <p:cNvPr id="11" name="Shape 8"/>
          <p:cNvSpPr/>
          <p:nvPr/>
        </p:nvSpPr>
        <p:spPr>
          <a:xfrm>
            <a:off x="5760720" y="1805940"/>
            <a:ext cx="822960" cy="0"/>
          </a:xfrm>
          <a:prstGeom prst="line">
            <a:avLst/>
          </a:prstGeom>
          <a:noFill/>
          <a:ln w="25400">
            <a:solidFill>
              <a:srgbClr val="64748B"/>
            </a:solidFill>
            <a:prstDash val="solid"/>
          </a:ln>
        </p:spPr>
        <p:txBody>
          <a:bodyPr/>
          <a:lstStyle/>
          <a:p>
            <a:endParaRPr lang="en-IN"/>
          </a:p>
        </p:txBody>
      </p:sp>
      <p:sp>
        <p:nvSpPr>
          <p:cNvPr id="12" name="Shape 9"/>
          <p:cNvSpPr/>
          <p:nvPr/>
        </p:nvSpPr>
        <p:spPr>
          <a:xfrm>
            <a:off x="6583680" y="1508760"/>
            <a:ext cx="2011680" cy="594360"/>
          </a:xfrm>
          <a:prstGeom prst="roundRect">
            <a:avLst>
              <a:gd name="adj" fmla="val 18462"/>
            </a:avLst>
          </a:prstGeom>
          <a:solidFill>
            <a:srgbClr val="B85042"/>
          </a:solidFill>
          <a:ln/>
        </p:spPr>
        <p:txBody>
          <a:bodyPr/>
          <a:lstStyle/>
          <a:p>
            <a:endParaRPr lang="en-IN"/>
          </a:p>
        </p:txBody>
      </p:sp>
      <p:sp>
        <p:nvSpPr>
          <p:cNvPr id="13" name="Text 10"/>
          <p:cNvSpPr/>
          <p:nvPr/>
        </p:nvSpPr>
        <p:spPr>
          <a:xfrm>
            <a:off x="6583680" y="1508760"/>
            <a:ext cx="2011680" cy="594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Cancelled</a:t>
            </a:r>
            <a:endParaRPr lang="en-US" sz="1400" dirty="0"/>
          </a:p>
        </p:txBody>
      </p:sp>
      <p:sp>
        <p:nvSpPr>
          <p:cNvPr id="14" name="Shape 11"/>
          <p:cNvSpPr/>
          <p:nvPr/>
        </p:nvSpPr>
        <p:spPr>
          <a:xfrm>
            <a:off x="365760" y="2377440"/>
            <a:ext cx="8412480" cy="5943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5" name="Shape 12"/>
          <p:cNvSpPr/>
          <p:nvPr/>
        </p:nvSpPr>
        <p:spPr>
          <a:xfrm>
            <a:off x="502920" y="2532888"/>
            <a:ext cx="594360" cy="274320"/>
          </a:xfrm>
          <a:prstGeom prst="roundRect">
            <a:avLst>
              <a:gd name="adj" fmla="val 13333"/>
            </a:avLst>
          </a:prstGeom>
          <a:solidFill>
            <a:srgbClr val="028090"/>
          </a:solidFill>
          <a:ln/>
        </p:spPr>
        <p:txBody>
          <a:bodyPr/>
          <a:lstStyle/>
          <a:p>
            <a:endParaRPr lang="en-IN"/>
          </a:p>
        </p:txBody>
      </p:sp>
      <p:sp>
        <p:nvSpPr>
          <p:cNvPr id="16" name="Text 13"/>
          <p:cNvSpPr/>
          <p:nvPr/>
        </p:nvSpPr>
        <p:spPr>
          <a:xfrm>
            <a:off x="502920" y="253288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POST</a:t>
            </a:r>
            <a:endParaRPr lang="en-US" sz="900" dirty="0"/>
          </a:p>
        </p:txBody>
      </p:sp>
      <p:sp>
        <p:nvSpPr>
          <p:cNvPr id="17" name="Text 14"/>
          <p:cNvSpPr/>
          <p:nvPr/>
        </p:nvSpPr>
        <p:spPr>
          <a:xfrm>
            <a:off x="1188720" y="2441448"/>
            <a:ext cx="3566160" cy="32004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/api/appointment/book</a:t>
            </a:r>
            <a:endParaRPr lang="en-US" sz="1000" dirty="0"/>
          </a:p>
        </p:txBody>
      </p:sp>
      <p:sp>
        <p:nvSpPr>
          <p:cNvPr id="18" name="Text 15"/>
          <p:cNvSpPr/>
          <p:nvPr/>
        </p:nvSpPr>
        <p:spPr>
          <a:xfrm>
            <a:off x="1188720" y="2724912"/>
            <a:ext cx="740664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Book appointment — links PatientCode + DoctorCode with date</a:t>
            </a:r>
            <a:endParaRPr lang="en-US" sz="1000" dirty="0"/>
          </a:p>
        </p:txBody>
      </p:sp>
      <p:sp>
        <p:nvSpPr>
          <p:cNvPr id="19" name="Shape 16"/>
          <p:cNvSpPr/>
          <p:nvPr/>
        </p:nvSpPr>
        <p:spPr>
          <a:xfrm>
            <a:off x="365760" y="3054096"/>
            <a:ext cx="8412480" cy="5943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0" name="Shape 17"/>
          <p:cNvSpPr/>
          <p:nvPr/>
        </p:nvSpPr>
        <p:spPr>
          <a:xfrm>
            <a:off x="502920" y="3209544"/>
            <a:ext cx="594360" cy="274320"/>
          </a:xfrm>
          <a:prstGeom prst="roundRect">
            <a:avLst>
              <a:gd name="adj" fmla="val 13333"/>
            </a:avLst>
          </a:prstGeom>
          <a:solidFill>
            <a:srgbClr val="028090"/>
          </a:solidFill>
          <a:ln/>
        </p:spPr>
        <p:txBody>
          <a:bodyPr/>
          <a:lstStyle/>
          <a:p>
            <a:endParaRPr lang="en-IN"/>
          </a:p>
        </p:txBody>
      </p:sp>
      <p:sp>
        <p:nvSpPr>
          <p:cNvPr id="21" name="Text 18"/>
          <p:cNvSpPr/>
          <p:nvPr/>
        </p:nvSpPr>
        <p:spPr>
          <a:xfrm>
            <a:off x="502920" y="3209544"/>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POST</a:t>
            </a:r>
            <a:endParaRPr lang="en-US" sz="900" dirty="0"/>
          </a:p>
        </p:txBody>
      </p:sp>
      <p:sp>
        <p:nvSpPr>
          <p:cNvPr id="22" name="Text 19"/>
          <p:cNvSpPr/>
          <p:nvPr/>
        </p:nvSpPr>
        <p:spPr>
          <a:xfrm>
            <a:off x="1188720" y="3118104"/>
            <a:ext cx="3566160" cy="32004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/api/appointment/cancel/{id}</a:t>
            </a:r>
            <a:endParaRPr lang="en-US" sz="1000" dirty="0"/>
          </a:p>
        </p:txBody>
      </p:sp>
      <p:sp>
        <p:nvSpPr>
          <p:cNvPr id="23" name="Text 20"/>
          <p:cNvSpPr/>
          <p:nvPr/>
        </p:nvSpPr>
        <p:spPr>
          <a:xfrm>
            <a:off x="1188720" y="3401568"/>
            <a:ext cx="740664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Cancel appointment — sets status='Cancelled', stamps CancelledAt</a:t>
            </a:r>
            <a:endParaRPr lang="en-US" sz="1000" dirty="0"/>
          </a:p>
        </p:txBody>
      </p:sp>
      <p:sp>
        <p:nvSpPr>
          <p:cNvPr id="24" name="Shape 21"/>
          <p:cNvSpPr/>
          <p:nvPr/>
        </p:nvSpPr>
        <p:spPr>
          <a:xfrm>
            <a:off x="365760" y="3730752"/>
            <a:ext cx="8412480" cy="5943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5" name="Shape 22"/>
          <p:cNvSpPr/>
          <p:nvPr/>
        </p:nvSpPr>
        <p:spPr>
          <a:xfrm>
            <a:off x="502920" y="3886200"/>
            <a:ext cx="594360" cy="274320"/>
          </a:xfrm>
          <a:prstGeom prst="roundRect">
            <a:avLst>
              <a:gd name="adj" fmla="val 13333"/>
            </a:avLst>
          </a:prstGeom>
          <a:solidFill>
            <a:srgbClr val="00A896"/>
          </a:solidFill>
          <a:ln/>
        </p:spPr>
        <p:txBody>
          <a:bodyPr/>
          <a:lstStyle/>
          <a:p>
            <a:endParaRPr lang="en-IN"/>
          </a:p>
        </p:txBody>
      </p:sp>
      <p:sp>
        <p:nvSpPr>
          <p:cNvPr id="26" name="Text 23"/>
          <p:cNvSpPr/>
          <p:nvPr/>
        </p:nvSpPr>
        <p:spPr>
          <a:xfrm>
            <a:off x="502920" y="3886200"/>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27" name="Text 24"/>
          <p:cNvSpPr/>
          <p:nvPr/>
        </p:nvSpPr>
        <p:spPr>
          <a:xfrm>
            <a:off x="1188720" y="3794760"/>
            <a:ext cx="3566160" cy="32004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/api/appointment/upcoming</a:t>
            </a:r>
            <a:endParaRPr lang="en-US" sz="1000" dirty="0"/>
          </a:p>
        </p:txBody>
      </p:sp>
      <p:sp>
        <p:nvSpPr>
          <p:cNvPr id="28" name="Text 25"/>
          <p:cNvSpPr/>
          <p:nvPr/>
        </p:nvSpPr>
        <p:spPr>
          <a:xfrm>
            <a:off x="1188720" y="4078224"/>
            <a:ext cx="740664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List all future appointments with status 'Scheduled'</a:t>
            </a:r>
            <a:endParaRPr lang="en-US" sz="1000" dirty="0"/>
          </a:p>
        </p:txBody>
      </p:sp>
      <p:sp>
        <p:nvSpPr>
          <p:cNvPr id="29" name="Shape 26"/>
          <p:cNvSpPr/>
          <p:nvPr/>
        </p:nvSpPr>
        <p:spPr>
          <a:xfrm>
            <a:off x="365760" y="4407408"/>
            <a:ext cx="8412480" cy="5943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30" name="Shape 27"/>
          <p:cNvSpPr/>
          <p:nvPr/>
        </p:nvSpPr>
        <p:spPr>
          <a:xfrm>
            <a:off x="502920" y="4562856"/>
            <a:ext cx="594360" cy="274320"/>
          </a:xfrm>
          <a:prstGeom prst="roundRect">
            <a:avLst>
              <a:gd name="adj" fmla="val 13333"/>
            </a:avLst>
          </a:prstGeom>
          <a:solidFill>
            <a:srgbClr val="00A896"/>
          </a:solidFill>
          <a:ln/>
        </p:spPr>
        <p:txBody>
          <a:bodyPr/>
          <a:lstStyle/>
          <a:p>
            <a:endParaRPr lang="en-IN"/>
          </a:p>
        </p:txBody>
      </p:sp>
      <p:sp>
        <p:nvSpPr>
          <p:cNvPr id="31" name="Text 28"/>
          <p:cNvSpPr/>
          <p:nvPr/>
        </p:nvSpPr>
        <p:spPr>
          <a:xfrm>
            <a:off x="502920" y="4562856"/>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GET</a:t>
            </a:r>
            <a:endParaRPr lang="en-US" sz="900" dirty="0"/>
          </a:p>
        </p:txBody>
      </p:sp>
      <p:sp>
        <p:nvSpPr>
          <p:cNvPr id="32" name="Text 29"/>
          <p:cNvSpPr/>
          <p:nvPr/>
        </p:nvSpPr>
        <p:spPr>
          <a:xfrm>
            <a:off x="1188720" y="4471416"/>
            <a:ext cx="3566160" cy="320040"/>
          </a:xfrm>
          <a:prstGeom prst="rect">
            <a:avLst/>
          </a:prstGeom>
          <a:noFill/>
          <a:ln/>
        </p:spPr>
        <p:txBody>
          <a:bodyPr wrap="square" rtlCol="0" anchor="ctr"/>
          <a:lstStyle/>
          <a:p>
            <a:pPr marL="0" indent="0">
              <a:buNone/>
            </a:pPr>
            <a:r>
              <a:rPr lang="en-US" sz="1000" b="1" dirty="0">
                <a:solidFill>
                  <a:srgbClr val="0A2540"/>
                </a:solidFill>
                <a:latin typeface="Consolas" pitchFamily="34" charset="0"/>
                <a:ea typeface="Consolas" pitchFamily="34" charset="-122"/>
                <a:cs typeface="Consolas" pitchFamily="34" charset="-120"/>
              </a:rPr>
              <a:t>/api/appointment/doctor/{code}</a:t>
            </a:r>
            <a:endParaRPr lang="en-US" sz="1000" dirty="0"/>
          </a:p>
        </p:txBody>
      </p:sp>
      <p:sp>
        <p:nvSpPr>
          <p:cNvPr id="33" name="Text 30"/>
          <p:cNvSpPr/>
          <p:nvPr/>
        </p:nvSpPr>
        <p:spPr>
          <a:xfrm>
            <a:off x="1188720" y="4754880"/>
            <a:ext cx="740664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All appointments for a specific doctor by DoctorCode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Stored Procedures</a:t>
            </a:r>
            <a:endParaRPr lang="en-US" sz="2800" dirty="0"/>
          </a:p>
        </p:txBody>
      </p:sp>
      <p:sp>
        <p:nvSpPr>
          <p:cNvPr id="3" name="Text 1"/>
          <p:cNvSpPr/>
          <p:nvPr/>
        </p:nvSpPr>
        <p:spPr>
          <a:xfrm>
            <a:off x="457200" y="804672"/>
            <a:ext cx="822960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All data operations go through SQL Server stored procedures — no raw queries in application code.</a:t>
            </a:r>
            <a:endParaRPr lang="en-US" sz="1200" dirty="0"/>
          </a:p>
        </p:txBody>
      </p:sp>
      <p:sp>
        <p:nvSpPr>
          <p:cNvPr id="4" name="Shape 2"/>
          <p:cNvSpPr/>
          <p:nvPr/>
        </p:nvSpPr>
        <p:spPr>
          <a:xfrm>
            <a:off x="274320" y="1280160"/>
            <a:ext cx="4114800" cy="2651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5" name="Shape 3"/>
          <p:cNvSpPr/>
          <p:nvPr/>
        </p:nvSpPr>
        <p:spPr>
          <a:xfrm>
            <a:off x="274320" y="1280160"/>
            <a:ext cx="4114800" cy="411480"/>
          </a:xfrm>
          <a:prstGeom prst="rect">
            <a:avLst/>
          </a:prstGeom>
          <a:solidFill>
            <a:srgbClr val="028090"/>
          </a:solidFill>
          <a:ln/>
        </p:spPr>
        <p:txBody>
          <a:bodyPr/>
          <a:lstStyle/>
          <a:p>
            <a:endParaRPr lang="en-IN"/>
          </a:p>
        </p:txBody>
      </p:sp>
      <p:sp>
        <p:nvSpPr>
          <p:cNvPr id="6" name="Text 4"/>
          <p:cNvSpPr/>
          <p:nvPr/>
        </p:nvSpPr>
        <p:spPr>
          <a:xfrm>
            <a:off x="274320" y="1280160"/>
            <a:ext cx="41148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 Procedures</a:t>
            </a:r>
            <a:endParaRPr lang="en-US" sz="1200" dirty="0"/>
          </a:p>
        </p:txBody>
      </p:sp>
      <p:sp>
        <p:nvSpPr>
          <p:cNvPr id="7" name="Text 5"/>
          <p:cNvSpPr/>
          <p:nvPr/>
        </p:nvSpPr>
        <p:spPr>
          <a:xfrm>
            <a:off x="457200" y="1755648"/>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sp_AddPatient</a:t>
            </a:r>
            <a:endParaRPr lang="en-US" sz="1050" dirty="0"/>
          </a:p>
        </p:txBody>
      </p:sp>
      <p:sp>
        <p:nvSpPr>
          <p:cNvPr id="8" name="Text 6"/>
          <p:cNvSpPr/>
          <p:nvPr/>
        </p:nvSpPr>
        <p:spPr>
          <a:xfrm>
            <a:off x="457200" y="2093976"/>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sp_UpdatePatient</a:t>
            </a:r>
            <a:endParaRPr lang="en-US" sz="1050" dirty="0"/>
          </a:p>
        </p:txBody>
      </p:sp>
      <p:sp>
        <p:nvSpPr>
          <p:cNvPr id="9" name="Text 7"/>
          <p:cNvSpPr/>
          <p:nvPr/>
        </p:nvSpPr>
        <p:spPr>
          <a:xfrm>
            <a:off x="457200" y="2432304"/>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sp_DeactivatePatient</a:t>
            </a:r>
            <a:endParaRPr lang="en-US" sz="1050" dirty="0"/>
          </a:p>
        </p:txBody>
      </p:sp>
      <p:sp>
        <p:nvSpPr>
          <p:cNvPr id="10" name="Text 8"/>
          <p:cNvSpPr/>
          <p:nvPr/>
        </p:nvSpPr>
        <p:spPr>
          <a:xfrm>
            <a:off x="457200" y="2770632"/>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sp_GetAllPatients</a:t>
            </a:r>
            <a:endParaRPr lang="en-US" sz="1050" dirty="0"/>
          </a:p>
        </p:txBody>
      </p:sp>
      <p:sp>
        <p:nvSpPr>
          <p:cNvPr id="11" name="Text 9"/>
          <p:cNvSpPr/>
          <p:nvPr/>
        </p:nvSpPr>
        <p:spPr>
          <a:xfrm>
            <a:off x="457200" y="3108960"/>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sp_GetPatientById</a:t>
            </a:r>
            <a:endParaRPr lang="en-US" sz="1050" dirty="0"/>
          </a:p>
        </p:txBody>
      </p:sp>
      <p:sp>
        <p:nvSpPr>
          <p:cNvPr id="12" name="Shape 10"/>
          <p:cNvSpPr/>
          <p:nvPr/>
        </p:nvSpPr>
        <p:spPr>
          <a:xfrm>
            <a:off x="4754880" y="1280160"/>
            <a:ext cx="4114800" cy="195681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3" name="Shape 11"/>
          <p:cNvSpPr/>
          <p:nvPr/>
        </p:nvSpPr>
        <p:spPr>
          <a:xfrm>
            <a:off x="4754880" y="1280160"/>
            <a:ext cx="4114800" cy="411480"/>
          </a:xfrm>
          <a:prstGeom prst="rect">
            <a:avLst/>
          </a:prstGeom>
          <a:solidFill>
            <a:srgbClr val="00A896"/>
          </a:solidFill>
          <a:ln/>
        </p:spPr>
        <p:txBody>
          <a:bodyPr/>
          <a:lstStyle/>
          <a:p>
            <a:endParaRPr lang="en-IN"/>
          </a:p>
        </p:txBody>
      </p:sp>
      <p:sp>
        <p:nvSpPr>
          <p:cNvPr id="14" name="Text 12"/>
          <p:cNvSpPr/>
          <p:nvPr/>
        </p:nvSpPr>
        <p:spPr>
          <a:xfrm>
            <a:off x="4754880" y="1280160"/>
            <a:ext cx="41148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Doctor Procedures</a:t>
            </a:r>
            <a:endParaRPr lang="en-US" sz="1200" dirty="0"/>
          </a:p>
        </p:txBody>
      </p:sp>
      <p:sp>
        <p:nvSpPr>
          <p:cNvPr id="15" name="Text 13"/>
          <p:cNvSpPr/>
          <p:nvPr/>
        </p:nvSpPr>
        <p:spPr>
          <a:xfrm>
            <a:off x="4937760" y="1755648"/>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sp_AddDoctor</a:t>
            </a:r>
            <a:endParaRPr lang="en-US" sz="1050" dirty="0"/>
          </a:p>
        </p:txBody>
      </p:sp>
      <p:sp>
        <p:nvSpPr>
          <p:cNvPr id="16" name="Text 14"/>
          <p:cNvSpPr/>
          <p:nvPr/>
        </p:nvSpPr>
        <p:spPr>
          <a:xfrm>
            <a:off x="4937760" y="2093976"/>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sp_GetAllDoctors</a:t>
            </a:r>
            <a:endParaRPr lang="en-US" sz="1050" dirty="0"/>
          </a:p>
        </p:txBody>
      </p:sp>
      <p:sp>
        <p:nvSpPr>
          <p:cNvPr id="17" name="Text 15"/>
          <p:cNvSpPr/>
          <p:nvPr/>
        </p:nvSpPr>
        <p:spPr>
          <a:xfrm>
            <a:off x="4937760" y="2432304"/>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sp_GetDoctorsBySpecialization</a:t>
            </a:r>
            <a:endParaRPr lang="en-US" sz="1050" dirty="0"/>
          </a:p>
        </p:txBody>
      </p:sp>
      <p:sp>
        <p:nvSpPr>
          <p:cNvPr id="18" name="Shape 16"/>
          <p:cNvSpPr/>
          <p:nvPr/>
        </p:nvSpPr>
        <p:spPr>
          <a:xfrm>
            <a:off x="274320" y="3108960"/>
            <a:ext cx="4114800" cy="195681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274320" y="3108960"/>
            <a:ext cx="4114800" cy="411480"/>
          </a:xfrm>
          <a:prstGeom prst="rect">
            <a:avLst/>
          </a:prstGeom>
          <a:solidFill>
            <a:srgbClr val="02C39A"/>
          </a:solidFill>
          <a:ln/>
        </p:spPr>
        <p:txBody>
          <a:bodyPr/>
          <a:lstStyle/>
          <a:p>
            <a:endParaRPr lang="en-IN"/>
          </a:p>
        </p:txBody>
      </p:sp>
      <p:sp>
        <p:nvSpPr>
          <p:cNvPr id="20" name="Text 18"/>
          <p:cNvSpPr/>
          <p:nvPr/>
        </p:nvSpPr>
        <p:spPr>
          <a:xfrm>
            <a:off x="274320" y="3108960"/>
            <a:ext cx="41148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Appointment Procedures</a:t>
            </a:r>
            <a:endParaRPr lang="en-US" sz="1200" dirty="0"/>
          </a:p>
        </p:txBody>
      </p:sp>
      <p:sp>
        <p:nvSpPr>
          <p:cNvPr id="21" name="Text 19"/>
          <p:cNvSpPr/>
          <p:nvPr/>
        </p:nvSpPr>
        <p:spPr>
          <a:xfrm>
            <a:off x="457200" y="3584448"/>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sp_BookAppointment</a:t>
            </a:r>
            <a:endParaRPr lang="en-US" sz="1050" dirty="0"/>
          </a:p>
        </p:txBody>
      </p:sp>
      <p:sp>
        <p:nvSpPr>
          <p:cNvPr id="22" name="Text 20"/>
          <p:cNvSpPr/>
          <p:nvPr/>
        </p:nvSpPr>
        <p:spPr>
          <a:xfrm>
            <a:off x="457200" y="3922776"/>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sp_CancelAppointment</a:t>
            </a:r>
            <a:endParaRPr lang="en-US" sz="1050" dirty="0"/>
          </a:p>
        </p:txBody>
      </p:sp>
      <p:sp>
        <p:nvSpPr>
          <p:cNvPr id="23" name="Text 21"/>
          <p:cNvSpPr/>
          <p:nvPr/>
        </p:nvSpPr>
        <p:spPr>
          <a:xfrm>
            <a:off x="457200" y="4261104"/>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sp_GetUpcomingAppointments</a:t>
            </a:r>
            <a:endParaRPr lang="en-US" sz="1050" dirty="0"/>
          </a:p>
        </p:txBody>
      </p:sp>
      <p:sp>
        <p:nvSpPr>
          <p:cNvPr id="24" name="Text 22"/>
          <p:cNvSpPr/>
          <p:nvPr/>
        </p:nvSpPr>
        <p:spPr>
          <a:xfrm>
            <a:off x="457200" y="4599432"/>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sp_GetDoctorAppointments</a:t>
            </a:r>
            <a:endParaRPr lang="en-US" sz="1050" dirty="0"/>
          </a:p>
        </p:txBody>
      </p:sp>
      <p:sp>
        <p:nvSpPr>
          <p:cNvPr id="25" name="Shape 23"/>
          <p:cNvSpPr/>
          <p:nvPr/>
        </p:nvSpPr>
        <p:spPr>
          <a:xfrm>
            <a:off x="4754880" y="3108960"/>
            <a:ext cx="4114800" cy="195681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4754880" y="3108960"/>
            <a:ext cx="4114800" cy="411480"/>
          </a:xfrm>
          <a:prstGeom prst="rect">
            <a:avLst/>
          </a:prstGeom>
          <a:solidFill>
            <a:srgbClr val="0D3B6B"/>
          </a:solidFill>
          <a:ln/>
        </p:spPr>
        <p:txBody>
          <a:bodyPr/>
          <a:lstStyle/>
          <a:p>
            <a:endParaRPr lang="en-IN"/>
          </a:p>
        </p:txBody>
      </p:sp>
      <p:sp>
        <p:nvSpPr>
          <p:cNvPr id="27" name="Text 25"/>
          <p:cNvSpPr/>
          <p:nvPr/>
        </p:nvSpPr>
        <p:spPr>
          <a:xfrm>
            <a:off x="4754880" y="3108960"/>
            <a:ext cx="411480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Reports Procedures</a:t>
            </a:r>
            <a:endParaRPr lang="en-US" sz="1200" dirty="0"/>
          </a:p>
        </p:txBody>
      </p:sp>
      <p:sp>
        <p:nvSpPr>
          <p:cNvPr id="28" name="Text 26"/>
          <p:cNvSpPr/>
          <p:nvPr/>
        </p:nvSpPr>
        <p:spPr>
          <a:xfrm>
            <a:off x="4937760" y="3584448"/>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sp_GetAppointmentReport</a:t>
            </a:r>
            <a:endParaRPr lang="en-US" sz="1050" dirty="0"/>
          </a:p>
        </p:txBody>
      </p:sp>
      <p:sp>
        <p:nvSpPr>
          <p:cNvPr id="29" name="Text 27"/>
          <p:cNvSpPr/>
          <p:nvPr/>
        </p:nvSpPr>
        <p:spPr>
          <a:xfrm>
            <a:off x="4937760" y="3922776"/>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sp_GetRevenueBySpecialization</a:t>
            </a:r>
            <a:endParaRPr lang="en-US" sz="1050" dirty="0"/>
          </a:p>
        </p:txBody>
      </p:sp>
      <p:sp>
        <p:nvSpPr>
          <p:cNvPr id="30" name="Text 28"/>
          <p:cNvSpPr/>
          <p:nvPr/>
        </p:nvSpPr>
        <p:spPr>
          <a:xfrm>
            <a:off x="4937760" y="4261104"/>
            <a:ext cx="3749040" cy="301752"/>
          </a:xfrm>
          <a:prstGeom prst="rect">
            <a:avLst/>
          </a:prstGeom>
          <a:noFill/>
          <a:ln/>
        </p:spPr>
        <p:txBody>
          <a:bodyPr wrap="square" rtlCol="0" anchor="ctr"/>
          <a:lstStyle/>
          <a:p>
            <a:pPr marL="0" indent="0">
              <a:buNone/>
            </a:pPr>
            <a:r>
              <a:rPr lang="en-US" sz="1050" dirty="0">
                <a:solidFill>
                  <a:srgbClr val="1E3A5F"/>
                </a:solidFill>
                <a:latin typeface="Consolas" pitchFamily="34" charset="0"/>
                <a:ea typeface="Consolas" pitchFamily="34" charset="-122"/>
                <a:cs typeface="Consolas" pitchFamily="34" charset="-120"/>
              </a:rPr>
              <a:t>▸  sp_GetDoctorsWithMoreThan2Appointments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Error Handling &amp; Middleware</a:t>
            </a:r>
            <a:endParaRPr lang="en-US" sz="2800" dirty="0"/>
          </a:p>
        </p:txBody>
      </p:sp>
      <p:sp>
        <p:nvSpPr>
          <p:cNvPr id="3" name="Shape 1"/>
          <p:cNvSpPr/>
          <p:nvPr/>
        </p:nvSpPr>
        <p:spPr>
          <a:xfrm>
            <a:off x="320040" y="1005840"/>
            <a:ext cx="4023360" cy="3794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Shape 2"/>
          <p:cNvSpPr/>
          <p:nvPr/>
        </p:nvSpPr>
        <p:spPr>
          <a:xfrm>
            <a:off x="320040" y="1005840"/>
            <a:ext cx="4023360" cy="548640"/>
          </a:xfrm>
          <a:prstGeom prst="rect">
            <a:avLst/>
          </a:prstGeom>
          <a:solidFill>
            <a:srgbClr val="B85042"/>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429768" y="1078992"/>
            <a:ext cx="402336" cy="402336"/>
          </a:xfrm>
          <a:prstGeom prst="rect">
            <a:avLst/>
          </a:prstGeom>
        </p:spPr>
      </p:pic>
      <p:sp>
        <p:nvSpPr>
          <p:cNvPr id="6" name="Text 3"/>
          <p:cNvSpPr/>
          <p:nvPr/>
        </p:nvSpPr>
        <p:spPr>
          <a:xfrm>
            <a:off x="960120" y="105156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ExceptionMiddleware</a:t>
            </a:r>
            <a:endParaRPr lang="en-US" sz="1300" dirty="0"/>
          </a:p>
        </p:txBody>
      </p:sp>
      <p:sp>
        <p:nvSpPr>
          <p:cNvPr id="7" name="Text 4"/>
          <p:cNvSpPr/>
          <p:nvPr/>
        </p:nvSpPr>
        <p:spPr>
          <a:xfrm>
            <a:off x="502920" y="166420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Wraps every request in a global try-catch</a:t>
            </a:r>
            <a:endParaRPr lang="en-US" sz="1100" dirty="0"/>
          </a:p>
        </p:txBody>
      </p:sp>
      <p:sp>
        <p:nvSpPr>
          <p:cNvPr id="8" name="Text 5"/>
          <p:cNvSpPr/>
          <p:nvPr/>
        </p:nvSpPr>
        <p:spPr>
          <a:xfrm>
            <a:off x="502920" y="221284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Returns JSON error responses with status codes</a:t>
            </a:r>
            <a:endParaRPr lang="en-US" sz="1100" dirty="0"/>
          </a:p>
        </p:txBody>
      </p:sp>
      <p:sp>
        <p:nvSpPr>
          <p:cNvPr id="9" name="Text 6"/>
          <p:cNvSpPr/>
          <p:nvPr/>
        </p:nvSpPr>
        <p:spPr>
          <a:xfrm>
            <a:off x="502920" y="276148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Custom SQL THROW errors (50001-50003) mapped to 404/400</a:t>
            </a:r>
            <a:endParaRPr lang="en-US" sz="1100" dirty="0"/>
          </a:p>
        </p:txBody>
      </p:sp>
      <p:sp>
        <p:nvSpPr>
          <p:cNvPr id="10" name="Text 7"/>
          <p:cNvSpPr/>
          <p:nvPr/>
        </p:nvSpPr>
        <p:spPr>
          <a:xfrm>
            <a:off x="502920" y="331012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Prevents stack trace leakage to clients</a:t>
            </a:r>
            <a:endParaRPr lang="en-US" sz="1100" dirty="0"/>
          </a:p>
        </p:txBody>
      </p:sp>
      <p:sp>
        <p:nvSpPr>
          <p:cNvPr id="11" name="Text 8"/>
          <p:cNvSpPr/>
          <p:nvPr/>
        </p:nvSpPr>
        <p:spPr>
          <a:xfrm>
            <a:off x="502920" y="385876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Ensures consistent error format across all endpoints</a:t>
            </a:r>
            <a:endParaRPr lang="en-US" sz="1100" dirty="0"/>
          </a:p>
        </p:txBody>
      </p:sp>
      <p:sp>
        <p:nvSpPr>
          <p:cNvPr id="12" name="Shape 9"/>
          <p:cNvSpPr/>
          <p:nvPr/>
        </p:nvSpPr>
        <p:spPr>
          <a:xfrm>
            <a:off x="4800600" y="1005840"/>
            <a:ext cx="4023360" cy="37947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3" name="Shape 10"/>
          <p:cNvSpPr/>
          <p:nvPr/>
        </p:nvSpPr>
        <p:spPr>
          <a:xfrm>
            <a:off x="4800600" y="1005840"/>
            <a:ext cx="4023360" cy="548640"/>
          </a:xfrm>
          <a:prstGeom prst="rect">
            <a:avLst/>
          </a:prstGeom>
          <a:solidFill>
            <a:srgbClr val="028090"/>
          </a:solidFill>
          <a:ln/>
        </p:spPr>
        <p:txBody>
          <a:bodyPr/>
          <a:lstStyle/>
          <a:p>
            <a:endParaRPr lang="en-IN"/>
          </a:p>
        </p:txBody>
      </p:sp>
      <p:pic>
        <p:nvPicPr>
          <p:cNvPr id="14" name="Image 1" descr="preencoded.png"/>
          <p:cNvPicPr>
            <a:picLocks noChangeAspect="1"/>
          </p:cNvPicPr>
          <p:nvPr/>
        </p:nvPicPr>
        <p:blipFill>
          <a:blip r:embed="rId4">
            <a:lum bright="70000" contrast="-70000"/>
            <a:extLst>
              <a:ext uri="{BEBA8EAE-BF5A-486C-A8C5-ECC9F3942E4B}">
                <a14:imgProps xmlns:a14="http://schemas.microsoft.com/office/drawing/2010/main">
                  <a14:imgLayer r:embed="rId5">
                    <a14:imgEffect>
                      <a14:saturation sat="200000"/>
                    </a14:imgEffect>
                  </a14:imgLayer>
                </a14:imgProps>
              </a:ext>
            </a:extLst>
          </a:blip>
          <a:stretch>
            <a:fillRect/>
          </a:stretch>
        </p:blipFill>
        <p:spPr>
          <a:xfrm>
            <a:off x="4910328" y="1078992"/>
            <a:ext cx="402336" cy="402336"/>
          </a:xfrm>
          <a:prstGeom prst="rect">
            <a:avLst/>
          </a:prstGeom>
        </p:spPr>
      </p:pic>
      <p:sp>
        <p:nvSpPr>
          <p:cNvPr id="15" name="Text 11"/>
          <p:cNvSpPr/>
          <p:nvPr/>
        </p:nvSpPr>
        <p:spPr>
          <a:xfrm>
            <a:off x="5440680" y="1051560"/>
            <a:ext cx="32004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RequestLoggingMiddleware</a:t>
            </a:r>
            <a:endParaRPr lang="en-US" sz="1300" dirty="0"/>
          </a:p>
        </p:txBody>
      </p:sp>
      <p:sp>
        <p:nvSpPr>
          <p:cNvPr id="16" name="Text 12"/>
          <p:cNvSpPr/>
          <p:nvPr/>
        </p:nvSpPr>
        <p:spPr>
          <a:xfrm>
            <a:off x="4983480" y="166420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Logs each inbound HTTP request (method + path)</a:t>
            </a:r>
            <a:endParaRPr lang="en-US" sz="1100" dirty="0"/>
          </a:p>
        </p:txBody>
      </p:sp>
      <p:sp>
        <p:nvSpPr>
          <p:cNvPr id="17" name="Text 13"/>
          <p:cNvSpPr/>
          <p:nvPr/>
        </p:nvSpPr>
        <p:spPr>
          <a:xfrm>
            <a:off x="4983480" y="221284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Records response status code on completion</a:t>
            </a:r>
            <a:endParaRPr lang="en-US" sz="1100" dirty="0"/>
          </a:p>
        </p:txBody>
      </p:sp>
      <p:sp>
        <p:nvSpPr>
          <p:cNvPr id="18" name="Text 14"/>
          <p:cNvSpPr/>
          <p:nvPr/>
        </p:nvSpPr>
        <p:spPr>
          <a:xfrm>
            <a:off x="4983480" y="276148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Measures request duration for performance monitoring</a:t>
            </a:r>
            <a:endParaRPr lang="en-US" sz="1100" dirty="0"/>
          </a:p>
        </p:txBody>
      </p:sp>
      <p:sp>
        <p:nvSpPr>
          <p:cNvPr id="19" name="Text 15"/>
          <p:cNvSpPr/>
          <p:nvPr/>
        </p:nvSpPr>
        <p:spPr>
          <a:xfrm>
            <a:off x="4983480" y="331012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Helps trace issues during development &amp; debugging</a:t>
            </a:r>
            <a:endParaRPr lang="en-US" sz="1100" dirty="0"/>
          </a:p>
        </p:txBody>
      </p:sp>
      <p:sp>
        <p:nvSpPr>
          <p:cNvPr id="20" name="Text 16"/>
          <p:cNvSpPr/>
          <p:nvPr/>
        </p:nvSpPr>
        <p:spPr>
          <a:xfrm>
            <a:off x="4983480" y="3858768"/>
            <a:ext cx="3657600" cy="502920"/>
          </a:xfrm>
          <a:prstGeom prst="rect">
            <a:avLst/>
          </a:prstGeom>
          <a:noFill/>
          <a:ln/>
        </p:spPr>
        <p:txBody>
          <a:bodyPr wrap="square" rtlCol="0" anchor="ctr"/>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Non-blocking — does not interfere with request flow</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Design Patterns &amp; Best Practices</a:t>
            </a:r>
            <a:endParaRPr lang="en-US" sz="2800" dirty="0"/>
          </a:p>
        </p:txBody>
      </p:sp>
      <p:sp>
        <p:nvSpPr>
          <p:cNvPr id="3" name="Shape 1"/>
          <p:cNvSpPr/>
          <p:nvPr/>
        </p:nvSpPr>
        <p:spPr>
          <a:xfrm>
            <a:off x="274320" y="96012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5" name="Image 0" descr="preencoded.png"/>
          <p:cNvPicPr>
            <a:picLocks noChangeAspect="1"/>
          </p:cNvPicPr>
          <p:nvPr/>
        </p:nvPicPr>
        <p:blipFill>
          <a:blip r:embed="rId3"/>
          <a:stretch>
            <a:fillRect/>
          </a:stretch>
        </p:blipFill>
        <p:spPr>
          <a:xfrm>
            <a:off x="475488" y="1170432"/>
            <a:ext cx="411480" cy="411480"/>
          </a:xfrm>
          <a:prstGeom prst="rect">
            <a:avLst/>
          </a:prstGeom>
        </p:spPr>
      </p:pic>
      <p:sp>
        <p:nvSpPr>
          <p:cNvPr id="6" name="Text 3"/>
          <p:cNvSpPr/>
          <p:nvPr/>
        </p:nvSpPr>
        <p:spPr>
          <a:xfrm>
            <a:off x="1024128" y="112471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Repository Pattern</a:t>
            </a:r>
            <a:endParaRPr lang="en-US" sz="1100" dirty="0"/>
          </a:p>
        </p:txBody>
      </p:sp>
      <p:sp>
        <p:nvSpPr>
          <p:cNvPr id="7" name="Text 4"/>
          <p:cNvSpPr/>
          <p:nvPr/>
        </p:nvSpPr>
        <p:spPr>
          <a:xfrm>
            <a:off x="384048" y="170992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IPatientRepository, IDoctorRepository, IAppointmentRepository, IReportRepository abstract all DB access. Services depend on interfaces, not concrete classes.</a:t>
            </a:r>
            <a:endParaRPr lang="en-US" sz="950" dirty="0"/>
          </a:p>
        </p:txBody>
      </p:sp>
      <p:sp>
        <p:nvSpPr>
          <p:cNvPr id="8" name="Shape 5"/>
          <p:cNvSpPr/>
          <p:nvPr/>
        </p:nvSpPr>
        <p:spPr>
          <a:xfrm>
            <a:off x="3182112" y="96012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0" name="Image 1" descr="preencoded.png"/>
          <p:cNvPicPr>
            <a:picLocks noChangeAspect="1"/>
          </p:cNvPicPr>
          <p:nvPr/>
        </p:nvPicPr>
        <p:blipFill>
          <a:blip r:embed="rId4"/>
          <a:stretch>
            <a:fillRect/>
          </a:stretch>
        </p:blipFill>
        <p:spPr>
          <a:xfrm>
            <a:off x="3364992" y="1161288"/>
            <a:ext cx="411480" cy="411480"/>
          </a:xfrm>
          <a:prstGeom prst="rect">
            <a:avLst/>
          </a:prstGeom>
        </p:spPr>
      </p:pic>
      <p:sp>
        <p:nvSpPr>
          <p:cNvPr id="11" name="Text 7"/>
          <p:cNvSpPr/>
          <p:nvPr/>
        </p:nvSpPr>
        <p:spPr>
          <a:xfrm>
            <a:off x="3931920" y="112471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Dependency Injection</a:t>
            </a:r>
            <a:endParaRPr lang="en-US" sz="1100" dirty="0"/>
          </a:p>
        </p:txBody>
      </p:sp>
      <p:sp>
        <p:nvSpPr>
          <p:cNvPr id="12" name="Text 8"/>
          <p:cNvSpPr/>
          <p:nvPr/>
        </p:nvSpPr>
        <p:spPr>
          <a:xfrm>
            <a:off x="3291840" y="170992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All repositories, services, and DatabaseHelper registered as Scoped in Program.cs. Constructor injection used throughout — no Service Locator anti-pattern.</a:t>
            </a:r>
            <a:endParaRPr lang="en-US" sz="950" dirty="0"/>
          </a:p>
        </p:txBody>
      </p:sp>
      <p:sp>
        <p:nvSpPr>
          <p:cNvPr id="13" name="Shape 9"/>
          <p:cNvSpPr/>
          <p:nvPr/>
        </p:nvSpPr>
        <p:spPr>
          <a:xfrm>
            <a:off x="6089904" y="96012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15" name="Image 2" descr="preencoded.png"/>
          <p:cNvPicPr>
            <a:picLocks noChangeAspect="1"/>
          </p:cNvPicPr>
          <p:nvPr/>
        </p:nvPicPr>
        <p:blipFill>
          <a:blip r:embed="rId5"/>
          <a:stretch>
            <a:fillRect/>
          </a:stretch>
        </p:blipFill>
        <p:spPr>
          <a:xfrm>
            <a:off x="6272784" y="1161288"/>
            <a:ext cx="411480" cy="411480"/>
          </a:xfrm>
          <a:prstGeom prst="rect">
            <a:avLst/>
          </a:prstGeom>
        </p:spPr>
      </p:pic>
      <p:sp>
        <p:nvSpPr>
          <p:cNvPr id="16" name="Text 11"/>
          <p:cNvSpPr/>
          <p:nvPr/>
        </p:nvSpPr>
        <p:spPr>
          <a:xfrm>
            <a:off x="6839712" y="112471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DTO Pattern</a:t>
            </a:r>
            <a:endParaRPr lang="en-US" sz="1100" dirty="0"/>
          </a:p>
        </p:txBody>
      </p:sp>
      <p:sp>
        <p:nvSpPr>
          <p:cNvPr id="17" name="Text 12"/>
          <p:cNvSpPr/>
          <p:nvPr/>
        </p:nvSpPr>
        <p:spPr>
          <a:xfrm>
            <a:off x="6199632" y="170992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Separate CreateXxxDto, UpdateXxxDto, XxxResponseDto classes decouple API contract from internal domain models. Prevents over-posting vulnerabilities.</a:t>
            </a:r>
            <a:endParaRPr lang="en-US" sz="950" dirty="0"/>
          </a:p>
        </p:txBody>
      </p:sp>
      <p:sp>
        <p:nvSpPr>
          <p:cNvPr id="18" name="Shape 13"/>
          <p:cNvSpPr/>
          <p:nvPr/>
        </p:nvSpPr>
        <p:spPr>
          <a:xfrm>
            <a:off x="274320" y="292608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0" name="Image 3" descr="preencoded.png"/>
          <p:cNvPicPr>
            <a:picLocks noChangeAspect="1"/>
          </p:cNvPicPr>
          <p:nvPr/>
        </p:nvPicPr>
        <p:blipFill>
          <a:blip r:embed="rId6"/>
          <a:stretch>
            <a:fillRect/>
          </a:stretch>
        </p:blipFill>
        <p:spPr>
          <a:xfrm>
            <a:off x="457200" y="3127248"/>
            <a:ext cx="411480" cy="411480"/>
          </a:xfrm>
          <a:prstGeom prst="rect">
            <a:avLst/>
          </a:prstGeom>
        </p:spPr>
      </p:pic>
      <p:sp>
        <p:nvSpPr>
          <p:cNvPr id="21" name="Text 15"/>
          <p:cNvSpPr/>
          <p:nvPr/>
        </p:nvSpPr>
        <p:spPr>
          <a:xfrm>
            <a:off x="1024128" y="309067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Stored Procedure Access</a:t>
            </a:r>
            <a:endParaRPr lang="en-US" sz="1100" dirty="0"/>
          </a:p>
        </p:txBody>
      </p:sp>
      <p:sp>
        <p:nvSpPr>
          <p:cNvPr id="22" name="Text 16"/>
          <p:cNvSpPr/>
          <p:nvPr/>
        </p:nvSpPr>
        <p:spPr>
          <a:xfrm>
            <a:off x="384048" y="367588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All queries routed through stored procedures via DatabaseHelper. No inline SQL — prevents SQL injection and centralises DB logic.</a:t>
            </a:r>
            <a:endParaRPr lang="en-US" sz="950" dirty="0"/>
          </a:p>
        </p:txBody>
      </p:sp>
      <p:sp>
        <p:nvSpPr>
          <p:cNvPr id="23" name="Shape 17"/>
          <p:cNvSpPr/>
          <p:nvPr/>
        </p:nvSpPr>
        <p:spPr>
          <a:xfrm>
            <a:off x="3182112" y="292608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25" name="Image 4" descr="preencoded.png"/>
          <p:cNvPicPr>
            <a:picLocks noChangeAspect="1"/>
          </p:cNvPicPr>
          <p:nvPr/>
        </p:nvPicPr>
        <p:blipFill>
          <a:blip r:embed="rId7"/>
          <a:stretch>
            <a:fillRect/>
          </a:stretch>
        </p:blipFill>
        <p:spPr>
          <a:xfrm>
            <a:off x="3364992" y="3127248"/>
            <a:ext cx="411480" cy="411480"/>
          </a:xfrm>
          <a:prstGeom prst="rect">
            <a:avLst/>
          </a:prstGeom>
        </p:spPr>
      </p:pic>
      <p:sp>
        <p:nvSpPr>
          <p:cNvPr id="26" name="Text 19"/>
          <p:cNvSpPr/>
          <p:nvPr/>
        </p:nvSpPr>
        <p:spPr>
          <a:xfrm>
            <a:off x="3931920" y="309067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Soft Delete</a:t>
            </a:r>
            <a:endParaRPr lang="en-US" sz="1100" dirty="0"/>
          </a:p>
        </p:txBody>
      </p:sp>
      <p:sp>
        <p:nvSpPr>
          <p:cNvPr id="27" name="Text 20"/>
          <p:cNvSpPr/>
          <p:nvPr/>
        </p:nvSpPr>
        <p:spPr>
          <a:xfrm>
            <a:off x="3291840" y="367588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Patients are deactivated (IsActive=0) rather than deleted. Appointments are cancelled with a timestamp rather than removed. Preserves audit history.</a:t>
            </a:r>
            <a:endParaRPr lang="en-US" sz="950" dirty="0"/>
          </a:p>
        </p:txBody>
      </p:sp>
      <p:sp>
        <p:nvSpPr>
          <p:cNvPr id="28" name="Shape 21"/>
          <p:cNvSpPr/>
          <p:nvPr/>
        </p:nvSpPr>
        <p:spPr>
          <a:xfrm>
            <a:off x="6089904" y="2926080"/>
            <a:ext cx="2724912" cy="17830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pic>
        <p:nvPicPr>
          <p:cNvPr id="30" name="Image 5" descr="preencoded.png"/>
          <p:cNvPicPr>
            <a:picLocks noChangeAspect="1"/>
          </p:cNvPicPr>
          <p:nvPr/>
        </p:nvPicPr>
        <p:blipFill>
          <a:blip r:embed="rId8"/>
          <a:stretch>
            <a:fillRect/>
          </a:stretch>
        </p:blipFill>
        <p:spPr>
          <a:xfrm>
            <a:off x="6272784" y="3127248"/>
            <a:ext cx="411480" cy="411480"/>
          </a:xfrm>
          <a:prstGeom prst="rect">
            <a:avLst/>
          </a:prstGeom>
        </p:spPr>
      </p:pic>
      <p:sp>
        <p:nvSpPr>
          <p:cNvPr id="31" name="Text 23"/>
          <p:cNvSpPr/>
          <p:nvPr/>
        </p:nvSpPr>
        <p:spPr>
          <a:xfrm>
            <a:off x="6839712" y="3090672"/>
            <a:ext cx="1828800" cy="502920"/>
          </a:xfrm>
          <a:prstGeom prst="rect">
            <a:avLst/>
          </a:prstGeom>
          <a:noFill/>
          <a:ln/>
        </p:spPr>
        <p:txBody>
          <a:bodyPr wrap="square" rtlCol="0" anchor="ctr"/>
          <a:lstStyle/>
          <a:p>
            <a:pPr marL="0" indent="0">
              <a:buNone/>
            </a:pPr>
            <a:r>
              <a:rPr lang="en-US" sz="1100" b="1" dirty="0">
                <a:solidFill>
                  <a:srgbClr val="0A2540"/>
                </a:solidFill>
                <a:latin typeface="Calibri" pitchFamily="34" charset="0"/>
                <a:ea typeface="Calibri" pitchFamily="34" charset="-122"/>
                <a:cs typeface="Calibri" pitchFamily="34" charset="-120"/>
              </a:rPr>
              <a:t>Async/Await</a:t>
            </a:r>
            <a:endParaRPr lang="en-US" sz="1100" dirty="0"/>
          </a:p>
        </p:txBody>
      </p:sp>
      <p:sp>
        <p:nvSpPr>
          <p:cNvPr id="32" name="Text 24"/>
          <p:cNvSpPr/>
          <p:nvPr/>
        </p:nvSpPr>
        <p:spPr>
          <a:xfrm>
            <a:off x="6199632" y="3675888"/>
            <a:ext cx="2505456" cy="914400"/>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Every service and repository method is async (Task&lt;T&gt;). Enables the API to handle concurrent requests efficiently without blocking threads.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API Endpoint Summary</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3511002817"/>
              </p:ext>
            </p:extLst>
          </p:nvPr>
        </p:nvGraphicFramePr>
        <p:xfrm>
          <a:off x="274320" y="914400"/>
          <a:ext cx="8412480" cy="4184904"/>
        </p:xfrm>
        <a:graphic>
          <a:graphicData uri="http://schemas.openxmlformats.org/drawingml/2006/table">
            <a:tbl>
              <a:tblPr/>
              <a:tblGrid>
                <a:gridCol w="9144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92608">
                <a:tc>
                  <a:txBody>
                    <a:bodyPr/>
                    <a:lstStyle/>
                    <a:p>
                      <a:pPr marL="0" indent="0" algn="ctr">
                        <a:buNone/>
                      </a:pPr>
                      <a:r>
                        <a:rPr lang="en-US" sz="1100" b="1" dirty="0">
                          <a:solidFill>
                            <a:srgbClr val="FFFFFF"/>
                          </a:solidFill>
                        </a:rPr>
                        <a:t>Method</a:t>
                      </a:r>
                      <a:endParaRPr lang="en-US" sz="11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rPr>
                        <a:t>Endpoint</a:t>
                      </a:r>
                      <a:endParaRPr lang="en-US" sz="11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A2540"/>
                    </a:solidFill>
                  </a:tcPr>
                </a:tc>
                <a:tc>
                  <a:txBody>
                    <a:bodyPr/>
                    <a:lstStyle/>
                    <a:p>
                      <a:pPr marL="0" indent="0">
                        <a:buNone/>
                      </a:pPr>
                      <a:r>
                        <a:rPr lang="en-US" sz="1100" b="1" dirty="0">
                          <a:solidFill>
                            <a:srgbClr val="FFFFFF"/>
                          </a:solidFill>
                        </a:rPr>
                        <a:t>Description</a:t>
                      </a:r>
                      <a:endParaRPr lang="en-US" sz="11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A2540"/>
                    </a:solidFill>
                  </a:tcPr>
                </a:tc>
                <a:tc>
                  <a:txBody>
                    <a:bodyPr/>
                    <a:lstStyle/>
                    <a:p>
                      <a:pPr marL="0" indent="0" algn="ctr">
                        <a:buNone/>
                      </a:pPr>
                      <a:r>
                        <a:rPr lang="en-US" sz="1100" b="1" dirty="0">
                          <a:solidFill>
                            <a:srgbClr val="FFFFFF"/>
                          </a:solidFill>
                        </a:rPr>
                        <a:t>Module</a:t>
                      </a:r>
                      <a:endParaRPr lang="en-US" sz="11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292608">
                <a:tc>
                  <a:txBody>
                    <a:bodyPr/>
                    <a:lstStyle/>
                    <a:p>
                      <a:pPr marL="0" indent="0" algn="ctr">
                        <a:buNone/>
                      </a:pPr>
                      <a:r>
                        <a:rPr lang="en-US" sz="1000" b="1" dirty="0">
                          <a:solidFill>
                            <a:srgbClr val="028090"/>
                          </a:solidFill>
                        </a:rPr>
                        <a:t>POST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/api/patient</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Register a new patient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8090"/>
                          </a:solidFill>
                        </a:rPr>
                        <a:t>Patient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1"/>
                  </a:ext>
                </a:extLst>
              </a:tr>
              <a:tr h="292608">
                <a:tc>
                  <a:txBody>
                    <a:bodyPr/>
                    <a:lstStyle/>
                    <a:p>
                      <a:pPr marL="0" indent="0" algn="ctr">
                        <a:buNone/>
                      </a:pPr>
                      <a:r>
                        <a:rPr lang="en-US" sz="1000" b="1" dirty="0">
                          <a:solidFill>
                            <a:srgbClr val="028090"/>
                          </a:solidFill>
                        </a:rPr>
                        <a:t>POST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/api/patient/{id}</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Update patient details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8090"/>
                          </a:solidFill>
                        </a:rPr>
                        <a:t>Patient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2"/>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/api/patient/all</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Get all active patients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8090"/>
                          </a:solidFill>
                        </a:rPr>
                        <a:t>Patient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3"/>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/api/doctor/all</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List all doctors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0A896"/>
                          </a:solidFill>
                        </a:rPr>
                        <a:t>Doctor</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4"/>
                  </a:ext>
                </a:extLst>
              </a:tr>
              <a:tr h="292608">
                <a:tc>
                  <a:txBody>
                    <a:bodyPr/>
                    <a:lstStyle/>
                    <a:p>
                      <a:pPr marL="0" indent="0" algn="ctr">
                        <a:buNone/>
                      </a:pPr>
                      <a:r>
                        <a:rPr lang="en-US" sz="1000" b="1" dirty="0">
                          <a:solidFill>
                            <a:srgbClr val="028090"/>
                          </a:solidFill>
                        </a:rPr>
                        <a:t>POST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/api/doctor</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Register a new doctor</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0A896"/>
                          </a:solidFill>
                        </a:rPr>
                        <a:t>Doctor</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5"/>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/api/doctor/specialization/{s}</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Filter doctors by specialization</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0A896"/>
                          </a:solidFill>
                        </a:rPr>
                        <a:t>Doctor</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6"/>
                  </a:ext>
                </a:extLst>
              </a:tr>
              <a:tr h="292608">
                <a:tc>
                  <a:txBody>
                    <a:bodyPr/>
                    <a:lstStyle/>
                    <a:p>
                      <a:pPr marL="0" indent="0" algn="ctr">
                        <a:buNone/>
                      </a:pPr>
                      <a:r>
                        <a:rPr lang="en-US" sz="1000" b="1" dirty="0">
                          <a:solidFill>
                            <a:srgbClr val="028090"/>
                          </a:solidFill>
                        </a:rPr>
                        <a:t>POST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/api/appointment/book</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Book a new 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C39A"/>
                          </a:solidFill>
                        </a:rPr>
                        <a:t>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7"/>
                  </a:ext>
                </a:extLst>
              </a:tr>
              <a:tr h="292608">
                <a:tc>
                  <a:txBody>
                    <a:bodyPr/>
                    <a:lstStyle/>
                    <a:p>
                      <a:pPr marL="0" indent="0" algn="ctr">
                        <a:buNone/>
                      </a:pPr>
                      <a:r>
                        <a:rPr lang="en-US" sz="1000" b="1" dirty="0">
                          <a:solidFill>
                            <a:srgbClr val="028090"/>
                          </a:solidFill>
                        </a:rPr>
                        <a:t>POST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/api/appointment/cancel/{id}</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Cancel an 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C39A"/>
                          </a:solidFill>
                        </a:rPr>
                        <a:t>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8"/>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/api/appointment/upcoming-appointments</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Get upcoming appointments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C39A"/>
                          </a:solidFill>
                        </a:rPr>
                        <a:t>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09"/>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/api/appointment/doctor/{code}</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Get a doctor's appointments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2C39A"/>
                          </a:solidFill>
                        </a:rPr>
                        <a:t>Appointment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10"/>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/api/report/appointments</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Full appointment report</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D3B6B"/>
                          </a:solidFill>
                        </a:rPr>
                        <a:t>Reports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11"/>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/api/report/revenue</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Revenue by specialization</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D3B6B"/>
                          </a:solidFill>
                        </a:rPr>
                        <a:t>Reports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12"/>
                  </a:ext>
                </a:extLst>
              </a:tr>
              <a:tr h="292608">
                <a:tc>
                  <a:txBody>
                    <a:bodyPr/>
                    <a:lstStyle/>
                    <a:p>
                      <a:pPr marL="0" indent="0" algn="ctr">
                        <a:buNone/>
                      </a:pPr>
                      <a:r>
                        <a:rPr lang="en-US" sz="1000" b="1" dirty="0">
                          <a:solidFill>
                            <a:srgbClr val="00A896"/>
                          </a:solidFill>
                        </a:rPr>
                        <a:t>GET</a:t>
                      </a:r>
                      <a:endParaRPr lang="en-US" sz="100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0A2540"/>
                          </a:solidFill>
                          <a:latin typeface="Consolas" pitchFamily="34" charset="0"/>
                          <a:ea typeface="Consolas" pitchFamily="34" charset="-122"/>
                          <a:cs typeface="Consolas" pitchFamily="34" charset="-120"/>
                        </a:rPr>
                        <a:t>/api/report/busy-doctors</a:t>
                      </a:r>
                      <a:endParaRPr lang="en-US" sz="950" dirty="0">
                        <a:latin typeface="Consolas" charset="0"/>
                        <a:ea typeface="Consolas" charset="0"/>
                        <a:cs typeface="Consolas" charset="0"/>
                      </a:endParaRPr>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buNone/>
                      </a:pPr>
                      <a:r>
                        <a:rPr lang="en-US" sz="950" dirty="0">
                          <a:solidFill>
                            <a:srgbClr val="64748B"/>
                          </a:solidFill>
                        </a:rPr>
                        <a:t>Doctors with 2+ appointments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tc>
                  <a:txBody>
                    <a:bodyPr/>
                    <a:lstStyle/>
                    <a:p>
                      <a:pPr marL="0" indent="0" algn="ctr">
                        <a:buNone/>
                      </a:pPr>
                      <a:r>
                        <a:rPr lang="en-US" sz="950" b="1" dirty="0">
                          <a:solidFill>
                            <a:srgbClr val="0D3B6B"/>
                          </a:solidFill>
                        </a:rPr>
                        <a:t>Reports</a:t>
                      </a:r>
                      <a:endParaRPr lang="en-US" sz="950" dirty="0"/>
                    </a:p>
                  </a:txBody>
                  <a:tcPr anchor="ctr">
                    <a:lnL w="6350" cap="flat" cmpd="sng" algn="ctr">
                      <a:solidFill>
                        <a:srgbClr val="D1E8F0"/>
                      </a:solidFill>
                      <a:prstDash val="solid"/>
                      <a:round/>
                      <a:headEnd type="none" w="med" len="med"/>
                      <a:tailEnd type="none" w="med" len="med"/>
                    </a:lnL>
                    <a:lnR w="6350" cap="flat" cmpd="sng" algn="ctr">
                      <a:solidFill>
                        <a:srgbClr val="D1E8F0"/>
                      </a:solidFill>
                      <a:prstDash val="solid"/>
                      <a:round/>
                      <a:headEnd type="none" w="med" len="med"/>
                      <a:tailEnd type="none" w="med" len="med"/>
                    </a:lnR>
                    <a:lnT w="6350" cap="flat" cmpd="sng" algn="ctr">
                      <a:solidFill>
                        <a:srgbClr val="D1E8F0"/>
                      </a:solidFill>
                      <a:prstDash val="solid"/>
                      <a:round/>
                      <a:headEnd type="none" w="med" len="med"/>
                      <a:tailEnd type="none" w="med" len="med"/>
                    </a:lnT>
                    <a:lnB w="6350" cap="flat" cmpd="sng" algn="ctr">
                      <a:solidFill>
                        <a:srgbClr val="D1E8F0"/>
                      </a:solidFill>
                      <a:prstDash val="solid"/>
                      <a:round/>
                      <a:headEnd type="none" w="med" len="med"/>
                      <a:tailEnd type="none" w="med" len="med"/>
                    </a:lnB>
                    <a:solidFill>
                      <a:srgbClr val="F8FAFB"/>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Key Learnings &amp; Outcomes</a:t>
            </a:r>
            <a:endParaRPr lang="en-US" sz="2800" dirty="0"/>
          </a:p>
        </p:txBody>
      </p:sp>
      <p:sp>
        <p:nvSpPr>
          <p:cNvPr id="3" name="Shape 1"/>
          <p:cNvSpPr/>
          <p:nvPr/>
        </p:nvSpPr>
        <p:spPr>
          <a:xfrm>
            <a:off x="274320" y="96012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4" name="Shape 2"/>
          <p:cNvSpPr/>
          <p:nvPr/>
        </p:nvSpPr>
        <p:spPr>
          <a:xfrm>
            <a:off x="274320" y="960120"/>
            <a:ext cx="621792" cy="1234440"/>
          </a:xfrm>
          <a:prstGeom prst="rect">
            <a:avLst/>
          </a:prstGeom>
          <a:solidFill>
            <a:srgbClr val="028090"/>
          </a:solidFill>
          <a:ln/>
        </p:spPr>
        <p:txBody>
          <a:bodyPr/>
          <a:lstStyle/>
          <a:p>
            <a:endParaRPr lang="en-IN"/>
          </a:p>
        </p:txBody>
      </p:sp>
      <p:sp>
        <p:nvSpPr>
          <p:cNvPr id="5" name="Text 3"/>
          <p:cNvSpPr/>
          <p:nvPr/>
        </p:nvSpPr>
        <p:spPr>
          <a:xfrm>
            <a:off x="274320" y="96012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987552" y="105156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Full-Stack API Design</a:t>
            </a:r>
            <a:endParaRPr lang="en-US" sz="1200" dirty="0"/>
          </a:p>
        </p:txBody>
      </p:sp>
      <p:sp>
        <p:nvSpPr>
          <p:cNvPr id="7" name="Text 5"/>
          <p:cNvSpPr/>
          <p:nvPr/>
        </p:nvSpPr>
        <p:spPr>
          <a:xfrm>
            <a:off x="987552" y="141732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Built a complete backend system from DB schema to HTTP endpoints following industry-standard REST conventions.</a:t>
            </a:r>
            <a:endParaRPr lang="en-US" sz="1000" dirty="0"/>
          </a:p>
        </p:txBody>
      </p:sp>
      <p:sp>
        <p:nvSpPr>
          <p:cNvPr id="8" name="Shape 6"/>
          <p:cNvSpPr/>
          <p:nvPr/>
        </p:nvSpPr>
        <p:spPr>
          <a:xfrm>
            <a:off x="4754880" y="96012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4754880" y="960120"/>
            <a:ext cx="621792" cy="1234440"/>
          </a:xfrm>
          <a:prstGeom prst="rect">
            <a:avLst/>
          </a:prstGeom>
          <a:solidFill>
            <a:srgbClr val="00A896"/>
          </a:solidFill>
          <a:ln/>
        </p:spPr>
        <p:txBody>
          <a:bodyPr/>
          <a:lstStyle/>
          <a:p>
            <a:endParaRPr lang="en-IN"/>
          </a:p>
        </p:txBody>
      </p:sp>
      <p:sp>
        <p:nvSpPr>
          <p:cNvPr id="10" name="Text 8"/>
          <p:cNvSpPr/>
          <p:nvPr/>
        </p:nvSpPr>
        <p:spPr>
          <a:xfrm>
            <a:off x="4754880" y="96012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5468112" y="105156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Separation of Concerns</a:t>
            </a:r>
            <a:endParaRPr lang="en-US" sz="1200" dirty="0"/>
          </a:p>
        </p:txBody>
      </p:sp>
      <p:sp>
        <p:nvSpPr>
          <p:cNvPr id="12" name="Text 10"/>
          <p:cNvSpPr/>
          <p:nvPr/>
        </p:nvSpPr>
        <p:spPr>
          <a:xfrm>
            <a:off x="5468112" y="141732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Clean layered architecture — Controller → Service → Repository — makes each layer independently testable and maintainable.</a:t>
            </a:r>
            <a:endParaRPr lang="en-US" sz="1000" dirty="0"/>
          </a:p>
        </p:txBody>
      </p:sp>
      <p:sp>
        <p:nvSpPr>
          <p:cNvPr id="13" name="Shape 11"/>
          <p:cNvSpPr/>
          <p:nvPr/>
        </p:nvSpPr>
        <p:spPr>
          <a:xfrm>
            <a:off x="274320" y="237744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274320" y="2377440"/>
            <a:ext cx="621792" cy="1234440"/>
          </a:xfrm>
          <a:prstGeom prst="rect">
            <a:avLst/>
          </a:prstGeom>
          <a:solidFill>
            <a:srgbClr val="028090"/>
          </a:solidFill>
          <a:ln/>
        </p:spPr>
        <p:txBody>
          <a:bodyPr/>
          <a:lstStyle/>
          <a:p>
            <a:endParaRPr lang="en-IN"/>
          </a:p>
        </p:txBody>
      </p:sp>
      <p:sp>
        <p:nvSpPr>
          <p:cNvPr id="15" name="Text 13"/>
          <p:cNvSpPr/>
          <p:nvPr/>
        </p:nvSpPr>
        <p:spPr>
          <a:xfrm>
            <a:off x="274320" y="237744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6" name="Text 14"/>
          <p:cNvSpPr/>
          <p:nvPr/>
        </p:nvSpPr>
        <p:spPr>
          <a:xfrm>
            <a:off x="987552" y="246888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SQL Server</a:t>
            </a:r>
            <a:endParaRPr lang="en-US" sz="1200" dirty="0"/>
          </a:p>
        </p:txBody>
      </p:sp>
      <p:sp>
        <p:nvSpPr>
          <p:cNvPr id="17" name="Text 15"/>
          <p:cNvSpPr/>
          <p:nvPr/>
        </p:nvSpPr>
        <p:spPr>
          <a:xfrm>
            <a:off x="987552" y="283464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Designed relational tables with FK constraints, CHECK constraints, IDENTITY columns, and transaction-safe stored procedures.</a:t>
            </a:r>
            <a:endParaRPr lang="en-US" sz="1000" dirty="0"/>
          </a:p>
        </p:txBody>
      </p:sp>
      <p:sp>
        <p:nvSpPr>
          <p:cNvPr id="18" name="Shape 16"/>
          <p:cNvSpPr/>
          <p:nvPr/>
        </p:nvSpPr>
        <p:spPr>
          <a:xfrm>
            <a:off x="4754880" y="237744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754880" y="2377440"/>
            <a:ext cx="621792" cy="1234440"/>
          </a:xfrm>
          <a:prstGeom prst="rect">
            <a:avLst/>
          </a:prstGeom>
          <a:solidFill>
            <a:srgbClr val="00A896"/>
          </a:solidFill>
          <a:ln/>
        </p:spPr>
        <p:txBody>
          <a:bodyPr/>
          <a:lstStyle/>
          <a:p>
            <a:endParaRPr lang="en-IN"/>
          </a:p>
        </p:txBody>
      </p:sp>
      <p:sp>
        <p:nvSpPr>
          <p:cNvPr id="20" name="Text 18"/>
          <p:cNvSpPr/>
          <p:nvPr/>
        </p:nvSpPr>
        <p:spPr>
          <a:xfrm>
            <a:off x="4754880" y="237744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1" name="Text 19"/>
          <p:cNvSpPr/>
          <p:nvPr/>
        </p:nvSpPr>
        <p:spPr>
          <a:xfrm>
            <a:off x="5468112" y="246888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Robust Error Handling</a:t>
            </a:r>
            <a:endParaRPr lang="en-US" sz="1200" dirty="0"/>
          </a:p>
        </p:txBody>
      </p:sp>
      <p:sp>
        <p:nvSpPr>
          <p:cNvPr id="22" name="Text 20"/>
          <p:cNvSpPr/>
          <p:nvPr/>
        </p:nvSpPr>
        <p:spPr>
          <a:xfrm>
            <a:off x="5468112" y="283464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Custom middleware catches all unhandled exceptions and returns consistent JSON errors, shielding clients from implementation details.</a:t>
            </a:r>
            <a:endParaRPr lang="en-US" sz="1000" dirty="0"/>
          </a:p>
        </p:txBody>
      </p:sp>
      <p:sp>
        <p:nvSpPr>
          <p:cNvPr id="23" name="Shape 21"/>
          <p:cNvSpPr/>
          <p:nvPr/>
        </p:nvSpPr>
        <p:spPr>
          <a:xfrm>
            <a:off x="274320" y="379476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274320" y="3794760"/>
            <a:ext cx="621792" cy="1234440"/>
          </a:xfrm>
          <a:prstGeom prst="rect">
            <a:avLst/>
          </a:prstGeom>
          <a:solidFill>
            <a:srgbClr val="028090"/>
          </a:solidFill>
          <a:ln/>
        </p:spPr>
        <p:txBody>
          <a:bodyPr/>
          <a:lstStyle/>
          <a:p>
            <a:endParaRPr lang="en-IN"/>
          </a:p>
        </p:txBody>
      </p:sp>
      <p:sp>
        <p:nvSpPr>
          <p:cNvPr id="25" name="Text 23"/>
          <p:cNvSpPr/>
          <p:nvPr/>
        </p:nvSpPr>
        <p:spPr>
          <a:xfrm>
            <a:off x="274320" y="379476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6" name="Text 24"/>
          <p:cNvSpPr/>
          <p:nvPr/>
        </p:nvSpPr>
        <p:spPr>
          <a:xfrm>
            <a:off x="987552" y="388620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DTO-Driven API Contracts</a:t>
            </a:r>
            <a:endParaRPr lang="en-US" sz="1200" dirty="0"/>
          </a:p>
        </p:txBody>
      </p:sp>
      <p:sp>
        <p:nvSpPr>
          <p:cNvPr id="27" name="Text 25"/>
          <p:cNvSpPr/>
          <p:nvPr/>
        </p:nvSpPr>
        <p:spPr>
          <a:xfrm>
            <a:off x="987552" y="425196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Input/output DTOs keep the API surface stable; internal model changes don't break client integrations.</a:t>
            </a:r>
            <a:endParaRPr lang="en-US" sz="1000" dirty="0"/>
          </a:p>
        </p:txBody>
      </p:sp>
      <p:sp>
        <p:nvSpPr>
          <p:cNvPr id="28" name="Shape 26"/>
          <p:cNvSpPr/>
          <p:nvPr/>
        </p:nvSpPr>
        <p:spPr>
          <a:xfrm>
            <a:off x="4754880" y="3794760"/>
            <a:ext cx="4114800" cy="1234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4754880" y="3794760"/>
            <a:ext cx="621792" cy="1234440"/>
          </a:xfrm>
          <a:prstGeom prst="rect">
            <a:avLst/>
          </a:prstGeom>
          <a:solidFill>
            <a:srgbClr val="00A896"/>
          </a:solidFill>
          <a:ln/>
        </p:spPr>
        <p:txBody>
          <a:bodyPr/>
          <a:lstStyle/>
          <a:p>
            <a:endParaRPr lang="en-IN"/>
          </a:p>
        </p:txBody>
      </p:sp>
      <p:sp>
        <p:nvSpPr>
          <p:cNvPr id="30" name="Text 28"/>
          <p:cNvSpPr/>
          <p:nvPr/>
        </p:nvSpPr>
        <p:spPr>
          <a:xfrm>
            <a:off x="4754880" y="3794760"/>
            <a:ext cx="621792" cy="12344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1" name="Text 29"/>
          <p:cNvSpPr/>
          <p:nvPr/>
        </p:nvSpPr>
        <p:spPr>
          <a:xfrm>
            <a:off x="5468112" y="3886200"/>
            <a:ext cx="3291840" cy="347472"/>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Business Analytics via API</a:t>
            </a:r>
            <a:endParaRPr lang="en-US" sz="1200" dirty="0"/>
          </a:p>
        </p:txBody>
      </p:sp>
      <p:sp>
        <p:nvSpPr>
          <p:cNvPr id="32" name="Text 30"/>
          <p:cNvSpPr/>
          <p:nvPr/>
        </p:nvSpPr>
        <p:spPr>
          <a:xfrm>
            <a:off x="5468112" y="4251960"/>
            <a:ext cx="3291840" cy="7132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Report endpoints deliver revenue insights and doctor workload data — demonstrating SQL aggregation and JOIN mastery.</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a:effectLst/>
      </p:bgPr>
    </p:bg>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F787F3C1-B79C-9341-1FC7-935EE489D1CC}"/>
              </a:ext>
            </a:extLst>
          </p:cNvPr>
          <p:cNvSpPr/>
          <p:nvPr/>
        </p:nvSpPr>
        <p:spPr>
          <a:xfrm>
            <a:off x="1984109" y="21682"/>
            <a:ext cx="4983619" cy="4834336"/>
          </a:xfrm>
          <a:prstGeom prst="ellipse">
            <a:avLst/>
          </a:prstGeom>
          <a:solidFill>
            <a:srgbClr val="02C39A">
              <a:alpha val="12000"/>
            </a:srgbClr>
          </a:solidFill>
          <a:ln/>
        </p:spPr>
        <p:txBody>
          <a:bodyPr/>
          <a:lstStyle/>
          <a:p>
            <a:endParaRPr lang="en-IN"/>
          </a:p>
        </p:txBody>
      </p:sp>
      <p:sp>
        <p:nvSpPr>
          <p:cNvPr id="2" name="Shape 0"/>
          <p:cNvSpPr/>
          <p:nvPr/>
        </p:nvSpPr>
        <p:spPr>
          <a:xfrm>
            <a:off x="2418588" y="105156"/>
            <a:ext cx="4114800" cy="4114800"/>
          </a:xfrm>
          <a:prstGeom prst="ellipse">
            <a:avLst/>
          </a:prstGeom>
          <a:solidFill>
            <a:srgbClr val="028090">
              <a:alpha val="15000"/>
            </a:srgbClr>
          </a:solidFill>
          <a:ln/>
        </p:spPr>
        <p:txBody>
          <a:bodyPr/>
          <a:lstStyle/>
          <a:p>
            <a:endParaRPr lang="en-IN"/>
          </a:p>
        </p:txBody>
      </p:sp>
      <p:sp>
        <p:nvSpPr>
          <p:cNvPr id="3" name="Shape 1"/>
          <p:cNvSpPr/>
          <p:nvPr/>
        </p:nvSpPr>
        <p:spPr>
          <a:xfrm>
            <a:off x="2916936" y="160020"/>
            <a:ext cx="3200400" cy="3200400"/>
          </a:xfrm>
          <a:prstGeom prst="ellipse">
            <a:avLst/>
          </a:prstGeom>
          <a:solidFill>
            <a:srgbClr val="02C39A">
              <a:alpha val="12000"/>
            </a:srgbClr>
          </a:solidFill>
          <a:ln/>
        </p:spPr>
        <p:txBody>
          <a:bodyPr/>
          <a:lstStyle/>
          <a:p>
            <a:endParaRPr lang="en-IN"/>
          </a:p>
        </p:txBody>
      </p:sp>
      <p:sp>
        <p:nvSpPr>
          <p:cNvPr id="4" name="Shape 2"/>
          <p:cNvSpPr/>
          <p:nvPr/>
        </p:nvSpPr>
        <p:spPr>
          <a:xfrm>
            <a:off x="0" y="0"/>
            <a:ext cx="164592" cy="5143500"/>
          </a:xfrm>
          <a:prstGeom prst="rect">
            <a:avLst/>
          </a:prstGeom>
          <a:solidFill>
            <a:srgbClr val="028090"/>
          </a:solidFill>
          <a:ln/>
        </p:spPr>
        <p:txBody>
          <a:bodyPr/>
          <a:lstStyle/>
          <a:p>
            <a:endParaRPr lang="en-IN"/>
          </a:p>
        </p:txBody>
      </p:sp>
      <p:sp>
        <p:nvSpPr>
          <p:cNvPr id="6" name="Text 3"/>
          <p:cNvSpPr/>
          <p:nvPr/>
        </p:nvSpPr>
        <p:spPr>
          <a:xfrm>
            <a:off x="914400" y="1920240"/>
            <a:ext cx="7315200" cy="77724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7" name="Text 4"/>
          <p:cNvSpPr/>
          <p:nvPr/>
        </p:nvSpPr>
        <p:spPr>
          <a:xfrm>
            <a:off x="914400" y="2743200"/>
            <a:ext cx="7315200" cy="411480"/>
          </a:xfrm>
          <a:prstGeom prst="rect">
            <a:avLst/>
          </a:prstGeom>
          <a:noFill/>
          <a:ln/>
        </p:spPr>
        <p:txBody>
          <a:bodyPr wrap="square" rtlCol="0" anchor="ctr"/>
          <a:lstStyle/>
          <a:p>
            <a:pPr marL="0" indent="0" algn="ctr">
              <a:buNone/>
            </a:pPr>
            <a:r>
              <a:rPr lang="en-US" sz="1600" i="1" dirty="0">
                <a:solidFill>
                  <a:srgbClr val="02C39A"/>
                </a:solidFill>
                <a:latin typeface="Calibri" pitchFamily="34" charset="0"/>
                <a:ea typeface="Calibri" pitchFamily="34" charset="-122"/>
                <a:cs typeface="Calibri" pitchFamily="34" charset="-120"/>
              </a:rPr>
              <a:t>Hospital Management System — Mini Project</a:t>
            </a:r>
            <a:endParaRPr lang="en-US" sz="1600" dirty="0"/>
          </a:p>
        </p:txBody>
      </p:sp>
      <p:sp>
        <p:nvSpPr>
          <p:cNvPr id="8" name="Shape 5"/>
          <p:cNvSpPr/>
          <p:nvPr/>
        </p:nvSpPr>
        <p:spPr>
          <a:xfrm>
            <a:off x="320040" y="3383280"/>
            <a:ext cx="1325880" cy="347472"/>
          </a:xfrm>
          <a:prstGeom prst="roundRect">
            <a:avLst>
              <a:gd name="adj" fmla="val 21053"/>
            </a:avLst>
          </a:prstGeom>
          <a:solidFill>
            <a:srgbClr val="028090">
              <a:alpha val="70000"/>
            </a:srgbClr>
          </a:solidFill>
          <a:ln/>
        </p:spPr>
        <p:txBody>
          <a:bodyPr/>
          <a:lstStyle/>
          <a:p>
            <a:endParaRPr lang="en-IN"/>
          </a:p>
        </p:txBody>
      </p:sp>
      <p:sp>
        <p:nvSpPr>
          <p:cNvPr id="9" name="Text 6"/>
          <p:cNvSpPr/>
          <p:nvPr/>
        </p:nvSpPr>
        <p:spPr>
          <a:xfrm>
            <a:off x="320040"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ASP.NET Core 8</a:t>
            </a:r>
            <a:endParaRPr lang="en-US" sz="900" dirty="0"/>
          </a:p>
        </p:txBody>
      </p:sp>
      <p:sp>
        <p:nvSpPr>
          <p:cNvPr id="10" name="Shape 7"/>
          <p:cNvSpPr/>
          <p:nvPr/>
        </p:nvSpPr>
        <p:spPr>
          <a:xfrm>
            <a:off x="1755648" y="3383280"/>
            <a:ext cx="1325880" cy="347472"/>
          </a:xfrm>
          <a:prstGeom prst="roundRect">
            <a:avLst>
              <a:gd name="adj" fmla="val 21053"/>
            </a:avLst>
          </a:prstGeom>
          <a:solidFill>
            <a:srgbClr val="028090">
              <a:alpha val="70000"/>
            </a:srgbClr>
          </a:solidFill>
          <a:ln/>
        </p:spPr>
        <p:txBody>
          <a:bodyPr/>
          <a:lstStyle/>
          <a:p>
            <a:endParaRPr lang="en-IN"/>
          </a:p>
        </p:txBody>
      </p:sp>
      <p:sp>
        <p:nvSpPr>
          <p:cNvPr id="11" name="Text 8"/>
          <p:cNvSpPr/>
          <p:nvPr/>
        </p:nvSpPr>
        <p:spPr>
          <a:xfrm>
            <a:off x="1755648"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SQL Server</a:t>
            </a:r>
            <a:endParaRPr lang="en-US" sz="900" dirty="0"/>
          </a:p>
        </p:txBody>
      </p:sp>
      <p:sp>
        <p:nvSpPr>
          <p:cNvPr id="12" name="Shape 9"/>
          <p:cNvSpPr/>
          <p:nvPr/>
        </p:nvSpPr>
        <p:spPr>
          <a:xfrm>
            <a:off x="3191256" y="3383280"/>
            <a:ext cx="1325880" cy="347472"/>
          </a:xfrm>
          <a:prstGeom prst="roundRect">
            <a:avLst>
              <a:gd name="adj" fmla="val 21053"/>
            </a:avLst>
          </a:prstGeom>
          <a:solidFill>
            <a:srgbClr val="028090">
              <a:alpha val="70000"/>
            </a:srgbClr>
          </a:solidFill>
          <a:ln/>
        </p:spPr>
        <p:txBody>
          <a:bodyPr/>
          <a:lstStyle/>
          <a:p>
            <a:endParaRPr lang="en-IN"/>
          </a:p>
        </p:txBody>
      </p:sp>
      <p:sp>
        <p:nvSpPr>
          <p:cNvPr id="13" name="Text 10"/>
          <p:cNvSpPr/>
          <p:nvPr/>
        </p:nvSpPr>
        <p:spPr>
          <a:xfrm>
            <a:off x="3191256"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REST API</a:t>
            </a:r>
            <a:endParaRPr lang="en-US" sz="900" dirty="0"/>
          </a:p>
        </p:txBody>
      </p:sp>
      <p:sp>
        <p:nvSpPr>
          <p:cNvPr id="14" name="Shape 11"/>
          <p:cNvSpPr/>
          <p:nvPr/>
        </p:nvSpPr>
        <p:spPr>
          <a:xfrm>
            <a:off x="4626864" y="3383280"/>
            <a:ext cx="1325880" cy="347472"/>
          </a:xfrm>
          <a:prstGeom prst="roundRect">
            <a:avLst>
              <a:gd name="adj" fmla="val 21053"/>
            </a:avLst>
          </a:prstGeom>
          <a:solidFill>
            <a:srgbClr val="028090">
              <a:alpha val="70000"/>
            </a:srgbClr>
          </a:solidFill>
          <a:ln/>
        </p:spPr>
        <p:txBody>
          <a:bodyPr/>
          <a:lstStyle/>
          <a:p>
            <a:endParaRPr lang="en-IN"/>
          </a:p>
        </p:txBody>
      </p:sp>
      <p:sp>
        <p:nvSpPr>
          <p:cNvPr id="15" name="Text 12"/>
          <p:cNvSpPr/>
          <p:nvPr/>
        </p:nvSpPr>
        <p:spPr>
          <a:xfrm>
            <a:off x="4626864"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Stored Procedures</a:t>
            </a:r>
            <a:endParaRPr lang="en-US" sz="900" dirty="0"/>
          </a:p>
        </p:txBody>
      </p:sp>
      <p:sp>
        <p:nvSpPr>
          <p:cNvPr id="16" name="Shape 13"/>
          <p:cNvSpPr/>
          <p:nvPr/>
        </p:nvSpPr>
        <p:spPr>
          <a:xfrm>
            <a:off x="6062472" y="3383280"/>
            <a:ext cx="1325880" cy="347472"/>
          </a:xfrm>
          <a:prstGeom prst="roundRect">
            <a:avLst>
              <a:gd name="adj" fmla="val 21053"/>
            </a:avLst>
          </a:prstGeom>
          <a:solidFill>
            <a:srgbClr val="028090">
              <a:alpha val="70000"/>
            </a:srgbClr>
          </a:solidFill>
          <a:ln/>
        </p:spPr>
        <p:txBody>
          <a:bodyPr/>
          <a:lstStyle/>
          <a:p>
            <a:endParaRPr lang="en-IN"/>
          </a:p>
        </p:txBody>
      </p:sp>
      <p:sp>
        <p:nvSpPr>
          <p:cNvPr id="17" name="Text 14"/>
          <p:cNvSpPr/>
          <p:nvPr/>
        </p:nvSpPr>
        <p:spPr>
          <a:xfrm>
            <a:off x="6062472"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Repository Pattern</a:t>
            </a:r>
            <a:endParaRPr lang="en-US" sz="900" dirty="0"/>
          </a:p>
        </p:txBody>
      </p:sp>
      <p:sp>
        <p:nvSpPr>
          <p:cNvPr id="18" name="Shape 15"/>
          <p:cNvSpPr/>
          <p:nvPr/>
        </p:nvSpPr>
        <p:spPr>
          <a:xfrm>
            <a:off x="7498080" y="3383280"/>
            <a:ext cx="1325880" cy="347472"/>
          </a:xfrm>
          <a:prstGeom prst="roundRect">
            <a:avLst>
              <a:gd name="adj" fmla="val 21053"/>
            </a:avLst>
          </a:prstGeom>
          <a:solidFill>
            <a:srgbClr val="028090">
              <a:alpha val="70000"/>
            </a:srgbClr>
          </a:solidFill>
          <a:ln/>
        </p:spPr>
        <p:txBody>
          <a:bodyPr/>
          <a:lstStyle/>
          <a:p>
            <a:endParaRPr lang="en-IN"/>
          </a:p>
        </p:txBody>
      </p:sp>
      <p:sp>
        <p:nvSpPr>
          <p:cNvPr id="19" name="Text 16"/>
          <p:cNvSpPr/>
          <p:nvPr/>
        </p:nvSpPr>
        <p:spPr>
          <a:xfrm>
            <a:off x="7498080" y="3383280"/>
            <a:ext cx="1325880" cy="34747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Middleware</a:t>
            </a:r>
            <a:endParaRPr lang="en-US" sz="900" dirty="0"/>
          </a:p>
        </p:txBody>
      </p:sp>
      <p:sp>
        <p:nvSpPr>
          <p:cNvPr id="20" name="Shape 17"/>
          <p:cNvSpPr/>
          <p:nvPr/>
        </p:nvSpPr>
        <p:spPr>
          <a:xfrm>
            <a:off x="0" y="4709160"/>
            <a:ext cx="9144000" cy="434340"/>
          </a:xfrm>
          <a:prstGeom prst="rect">
            <a:avLst/>
          </a:prstGeom>
          <a:solidFill>
            <a:srgbClr val="028090"/>
          </a:solidFill>
          <a:ln/>
        </p:spPr>
        <p:txBody>
          <a:bodyPr/>
          <a:lstStyle/>
          <a:p>
            <a:endParaRPr lang="en-IN" dirty="0"/>
          </a:p>
        </p:txBody>
      </p:sp>
      <p:sp>
        <p:nvSpPr>
          <p:cNvPr id="21" name="Text 18"/>
          <p:cNvSpPr/>
          <p:nvPr/>
        </p:nvSpPr>
        <p:spPr>
          <a:xfrm>
            <a:off x="365760" y="4709160"/>
            <a:ext cx="8412480" cy="4343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Built with  ASP.NET Core 8  ·  SQL Server  ·  C# 8  </a:t>
            </a:r>
            <a:endParaRPr lang="en-US" sz="1100" dirty="0"/>
          </a:p>
        </p:txBody>
      </p:sp>
      <p:grpSp>
        <p:nvGrpSpPr>
          <p:cNvPr id="23" name="Group 22">
            <a:extLst>
              <a:ext uri="{FF2B5EF4-FFF2-40B4-BE49-F238E27FC236}">
                <a16:creationId xmlns:a16="http://schemas.microsoft.com/office/drawing/2014/main" id="{987BBB88-FEEA-316D-FA8D-169CF1B4FD7D}"/>
              </a:ext>
            </a:extLst>
          </p:cNvPr>
          <p:cNvGrpSpPr/>
          <p:nvPr/>
        </p:nvGrpSpPr>
        <p:grpSpPr>
          <a:xfrm>
            <a:off x="3854196" y="617655"/>
            <a:ext cx="1435342" cy="1409410"/>
            <a:chOff x="5781433" y="2565691"/>
            <a:chExt cx="1238293" cy="1301562"/>
          </a:xfrm>
          <a:blipFill dpi="0" rotWithShape="1">
            <a:blip r:embed="rId3">
              <a:extLst>
                <a:ext uri="{28A0092B-C50C-407E-A947-70E740481C1C}">
                  <a14:useLocalDpi xmlns:a14="http://schemas.microsoft.com/office/drawing/2010/main" val="0"/>
                </a:ext>
              </a:extLst>
            </a:blip>
            <a:srcRect/>
            <a:stretch>
              <a:fillRect/>
            </a:stretch>
          </a:blipFill>
        </p:grpSpPr>
        <p:sp>
          <p:nvSpPr>
            <p:cNvPr id="24" name="Half Frame 23">
              <a:extLst>
                <a:ext uri="{FF2B5EF4-FFF2-40B4-BE49-F238E27FC236}">
                  <a16:creationId xmlns:a16="http://schemas.microsoft.com/office/drawing/2014/main" id="{3ACA66D3-568F-0762-A1BE-FEA6788EFA9E}"/>
                </a:ext>
              </a:extLst>
            </p:cNvPr>
            <p:cNvSpPr/>
            <p:nvPr/>
          </p:nvSpPr>
          <p:spPr>
            <a:xfrm>
              <a:off x="6407726" y="3194052"/>
              <a:ext cx="612000" cy="6732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5" name="Half Frame 24">
              <a:extLst>
                <a:ext uri="{FF2B5EF4-FFF2-40B4-BE49-F238E27FC236}">
                  <a16:creationId xmlns:a16="http://schemas.microsoft.com/office/drawing/2014/main" id="{116E0A4F-6AE8-AC87-55C6-08D1FAADE222}"/>
                </a:ext>
              </a:extLst>
            </p:cNvPr>
            <p:cNvSpPr/>
            <p:nvPr/>
          </p:nvSpPr>
          <p:spPr>
            <a:xfrm rot="10800000">
              <a:off x="5781434" y="2566670"/>
              <a:ext cx="612000" cy="6120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6" name="Half Frame 25">
              <a:extLst>
                <a:ext uri="{FF2B5EF4-FFF2-40B4-BE49-F238E27FC236}">
                  <a16:creationId xmlns:a16="http://schemas.microsoft.com/office/drawing/2014/main" id="{5B4D1C7F-1F20-4922-A968-C5F72B65EE70}"/>
                </a:ext>
              </a:extLst>
            </p:cNvPr>
            <p:cNvSpPr/>
            <p:nvPr/>
          </p:nvSpPr>
          <p:spPr>
            <a:xfrm rot="16200000">
              <a:off x="6407726" y="2565691"/>
              <a:ext cx="612000" cy="6120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7" name="Half Frame 26">
              <a:extLst>
                <a:ext uri="{FF2B5EF4-FFF2-40B4-BE49-F238E27FC236}">
                  <a16:creationId xmlns:a16="http://schemas.microsoft.com/office/drawing/2014/main" id="{840B6EC3-7297-3584-16D1-D2422A93B4F1}"/>
                </a:ext>
              </a:extLst>
            </p:cNvPr>
            <p:cNvSpPr/>
            <p:nvPr/>
          </p:nvSpPr>
          <p:spPr>
            <a:xfrm rot="10800000" flipV="1">
              <a:off x="5781433" y="3194053"/>
              <a:ext cx="612000" cy="673200"/>
            </a:xfrm>
            <a:prstGeom prst="halfFrame">
              <a:avLst/>
            </a:prstGeom>
            <a:grpFill/>
            <a:ln>
              <a:noFill/>
            </a:ln>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280</TotalTime>
  <Words>1191</Words>
  <Application>Microsoft Office PowerPoint</Application>
  <PresentationFormat>On-screen Show (16:9)</PresentationFormat>
  <Paragraphs>267</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dc:title>
  <dc:subject>PptxGenJS Presentation</dc:subject>
  <dc:creator>PptxGenJS</dc:creator>
  <cp:lastModifiedBy>Sharanbasava Kyasa</cp:lastModifiedBy>
  <cp:revision>6</cp:revision>
  <dcterms:created xsi:type="dcterms:W3CDTF">2026-06-01T06:34:39Z</dcterms:created>
  <dcterms:modified xsi:type="dcterms:W3CDTF">2026-06-04T05:10:21Z</dcterms:modified>
</cp:coreProperties>
</file>